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56" r:id="rId2"/>
  </p:sldIdLst>
  <p:sldSz cx="42803763" cy="30275213"/>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088"/>
    <p:restoredTop sz="94616"/>
  </p:normalViewPr>
  <p:slideViewPr>
    <p:cSldViewPr snapToGrid="0">
      <p:cViewPr>
        <p:scale>
          <a:sx n="34" d="100"/>
          <a:sy n="34" d="100"/>
        </p:scale>
        <p:origin x="2248" y="1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COMSCI/ECON 206 PS2 clean A0 poster template.</a:t>
            </a:r>
          </a:p>
          <a:p>
            <a:r>
              <a:t>Brand guide: https://dku-web-admissions.s3.cn-north-1.amazonaws.com.cn/dkumain/wp-content/uploads/mainsite/2022/05/brand-guide-compressed_2021.pdf, linked from https://www.dukekunshan.edu.cn/media/. Guide pp. 5, 6, 12, 14, and 15 establish logo clear space/proportions, unchanged logo artwork, application colors #003399 and #006633 plus white, and Calibri as the office system font when InterstatePlus cannot be used. Official logo asset: https://www.dukekunshan.edu.cn/wp-content/uploads/2021/08/large_dku-Logo.png.</a:t>
            </a:r>
          </a:p>
          <a:p>
            <a:r>
              <a:t>Calibri is specified in the editable PowerPoint. The exported PDF uses Carlito, a metric-compatible open-source substitute because Calibri is unavailable in the export environment. Re-export from PowerPoint with Calibri for institution-font-exact output.</a:t>
            </a:r>
          </a:p>
          <a:p>
            <a:r>
              <a:t>Clean and annotated versions share all element positions. Keep A0 landscape 1189 x 841 mm, 100% print scale. Text and figure/QR placeholders are editable; preserve the embedded logo unchanged and keep at least half its height as clear space. Instructor belongs below authors, not in the author list. Replace all placeholders with actual work; distinguish observed results, inferences, and planned tests. QR codes are optional but full public URLs and tested access are required. References must be full and traceable; acknowledgments must name actual contributions and AI assistance. Sep 28: symposium, peer evaluation and real-world case impacts. Sep 30: final update. The PS1-style paper, LaTeX, and learning pathway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huggingface.co/spaces/dku-comsci-econ206-2026/PS2_Team_A" TargetMode="External"/><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2" name="top-brand-rule">
            <a:extLst>
              <a:ext uri="{FF2B5EF4-FFF2-40B4-BE49-F238E27FC236}">
                <a16:creationId xmlns:a16="http://schemas.microsoft.com/office/drawing/2014/main" id="{FDACD238-30EA-433B-B9A8-2AB270625A83}"/>
              </a:ext>
            </a:extLst>
          </p:cNvPr>
          <p:cNvSpPr>
            <a:spLocks noGrp="1"/>
          </p:cNvSpPr>
          <p:nvPr/>
        </p:nvSpPr>
        <p:spPr>
          <a:xfrm>
            <a:off x="0" y="0"/>
            <a:ext cx="42804000" cy="228600"/>
          </a:xfrm>
          <a:prstGeom prst="rect">
            <a:avLst/>
          </a:prstGeom>
          <a:solidFill>
            <a:srgbClr val="003399"/>
          </a:solidFill>
          <a:ln w="0">
            <a:noFill/>
            <a:prstDash val="solid"/>
          </a:ln>
        </p:spPr>
        <p:txBody>
          <a:bodyPr/>
          <a:lstStyle/>
          <a:p>
            <a:pPr latinLnBrk="0"/>
            <a:endParaRPr lang="en-US"/>
          </a:p>
        </p:txBody>
      </p:sp>
      <p:sp>
        <p:nvSpPr>
          <p:cNvPr id="2" name="course-line">
            <a:extLst>
              <a:ext uri="{FF2B5EF4-FFF2-40B4-BE49-F238E27FC236}">
                <a16:creationId xmlns:a16="http://schemas.microsoft.com/office/drawing/2014/main" id="{5806B552-CE06-4C40-BA14-45983C2DB289}"/>
              </a:ext>
            </a:extLst>
          </p:cNvPr>
          <p:cNvSpPr>
            <a:spLocks noGrp="1"/>
          </p:cNvSpPr>
          <p:nvPr/>
        </p:nvSpPr>
        <p:spPr>
          <a:xfrm>
            <a:off x="1333500" y="781050"/>
            <a:ext cx="28860750" cy="619125"/>
          </a:xfrm>
          <a:prstGeom prst="rect">
            <a:avLst/>
          </a:prstGeom>
          <a:noFill/>
          <a:ln w="0">
            <a:noFill/>
            <a:prstDash val="solid"/>
          </a:ln>
        </p:spPr>
        <p:txBody>
          <a:bodyPr>
            <a:noAutofit/>
          </a:bodyPr>
          <a:lstStyle/>
          <a:p>
            <a:pPr algn="l" latinLnBrk="0">
              <a:defRPr sz="2775" b="1">
                <a:solidFill>
                  <a:srgbClr val="003399"/>
                </a:solidFill>
                <a:latin typeface="Calibri"/>
                <a:ea typeface="Calibri"/>
                <a:cs typeface="Calibri"/>
              </a:defRPr>
            </a:pPr>
            <a:r>
              <a:rPr sz="2775" b="1">
                <a:solidFill>
                  <a:srgbClr val="003399"/>
                </a:solidFill>
                <a:latin typeface="Calibri"/>
                <a:ea typeface="Calibri"/>
                <a:cs typeface="Calibri"/>
              </a:rPr>
              <a:t>COMSCI / ECON 206   |   PS2 RESEARCH SYMPOSIUM   |   FALL 2026</a:t>
            </a:r>
          </a:p>
        </p:txBody>
      </p:sp>
      <p:sp>
        <p:nvSpPr>
          <p:cNvPr id="3" name="version">
            <a:extLst>
              <a:ext uri="{FF2B5EF4-FFF2-40B4-BE49-F238E27FC236}">
                <a16:creationId xmlns:a16="http://schemas.microsoft.com/office/drawing/2014/main" id="{05588AA4-5EDB-4475-A143-90877DB14160}"/>
              </a:ext>
            </a:extLst>
          </p:cNvPr>
          <p:cNvSpPr>
            <a:spLocks noGrp="1"/>
          </p:cNvSpPr>
          <p:nvPr/>
        </p:nvSpPr>
        <p:spPr>
          <a:xfrm>
            <a:off x="31623000" y="6153150"/>
            <a:ext cx="9810750" cy="371475"/>
          </a:xfrm>
          <a:prstGeom prst="rect">
            <a:avLst/>
          </a:prstGeom>
          <a:noFill/>
          <a:ln w="0">
            <a:noFill/>
            <a:prstDash val="solid"/>
          </a:ln>
        </p:spPr>
        <p:txBody>
          <a:bodyPr wrap="square">
            <a:noAutofit/>
          </a:bodyPr>
          <a:lstStyle/>
          <a:p>
            <a:pPr algn="r" latinLnBrk="0">
              <a:defRPr sz="2100" b="1">
                <a:solidFill>
                  <a:srgbClr val="006633"/>
                </a:solidFill>
                <a:latin typeface="Calibri"/>
                <a:ea typeface="Calibri"/>
                <a:cs typeface="Calibri"/>
              </a:defRPr>
            </a:pPr>
            <a:r>
              <a:rPr sz="2100" b="1">
                <a:solidFill>
                  <a:srgbClr val="006633"/>
                </a:solidFill>
                <a:latin typeface="Calibri"/>
                <a:ea typeface="Calibri"/>
                <a:cs typeface="Calibri"/>
              </a:rPr>
              <a:t>FINAL v2  ·  OCT 2026</a:t>
            </a:r>
          </a:p>
        </p:txBody>
      </p:sp>
      <p:sp>
        <p:nvSpPr>
          <p:cNvPr id="4" name="project-title">
            <a:extLst>
              <a:ext uri="{FF2B5EF4-FFF2-40B4-BE49-F238E27FC236}">
                <a16:creationId xmlns:a16="http://schemas.microsoft.com/office/drawing/2014/main" id="{B66A5B7F-804A-4F30-B6A0-3C5C2AB4C437}"/>
              </a:ext>
            </a:extLst>
          </p:cNvPr>
          <p:cNvSpPr>
            <a:spLocks noGrp="1"/>
          </p:cNvSpPr>
          <p:nvPr/>
        </p:nvSpPr>
        <p:spPr>
          <a:xfrm>
            <a:off x="1333500" y="1733550"/>
            <a:ext cx="29146500" cy="2619375"/>
          </a:xfrm>
          <a:prstGeom prst="rect">
            <a:avLst/>
          </a:prstGeom>
          <a:noFill/>
          <a:ln w="0">
            <a:noFill/>
            <a:prstDash val="solid"/>
          </a:ln>
        </p:spPr>
        <p:txBody>
          <a:bodyPr wrap="square">
            <a:noAutofit/>
          </a:bodyPr>
          <a:lstStyle/>
          <a:p>
            <a:pPr algn="l" latinLnBrk="0">
              <a:defRPr sz="9450" b="1">
                <a:solidFill>
                  <a:srgbClr val="003399"/>
                </a:solidFill>
                <a:latin typeface="Calibri"/>
                <a:ea typeface="Calibri"/>
                <a:cs typeface="Calibri"/>
              </a:defRPr>
            </a:pPr>
            <a:r>
              <a:rPr sz="8600" b="1">
                <a:solidFill>
                  <a:srgbClr val="003399"/>
                </a:solidFill>
                <a:latin typeface="Calibri"/>
                <a:ea typeface="Calibri"/>
                <a:cs typeface="Calibri"/>
              </a:rPr>
              <a:t>Can a carbon-aware VCG rule allocate shared</a:t>
            </a:r>
          </a:p>
          <a:p>
            <a:pPr algn="l" latinLnBrk="0">
              <a:defRPr sz="9450" b="1">
                <a:solidFill>
                  <a:srgbClr val="003399"/>
                </a:solidFill>
                <a:latin typeface="Calibri"/>
                <a:ea typeface="Calibri"/>
                <a:cs typeface="Calibri"/>
              </a:defRPr>
            </a:pPr>
            <a:r>
              <a:rPr sz="8600" b="1">
                <a:solidFill>
                  <a:srgbClr val="003399"/>
                </a:solidFill>
                <a:latin typeface="Calibri"/>
                <a:ea typeface="Calibri"/>
                <a:cs typeface="Calibri"/>
              </a:rPr>
              <a:t>GPU-hours better than first come, first served?</a:t>
            </a:r>
          </a:p>
        </p:txBody>
      </p:sp>
      <p:sp>
        <p:nvSpPr>
          <p:cNvPr id="5" name="authors">
            <a:extLst>
              <a:ext uri="{FF2B5EF4-FFF2-40B4-BE49-F238E27FC236}">
                <a16:creationId xmlns:a16="http://schemas.microsoft.com/office/drawing/2014/main" id="{439A7EDB-36D0-4D9A-9F53-6704B96A144F}"/>
              </a:ext>
            </a:extLst>
          </p:cNvPr>
          <p:cNvSpPr>
            <a:spLocks noGrp="1"/>
          </p:cNvSpPr>
          <p:nvPr/>
        </p:nvSpPr>
        <p:spPr>
          <a:xfrm>
            <a:off x="1333500" y="4457700"/>
            <a:ext cx="28575000" cy="762000"/>
          </a:xfrm>
          <a:prstGeom prst="rect">
            <a:avLst/>
          </a:prstGeom>
          <a:noFill/>
          <a:ln w="0">
            <a:noFill/>
            <a:prstDash val="solid"/>
          </a:ln>
        </p:spPr>
        <p:txBody>
          <a:bodyPr wrap="square">
            <a:noAutofit/>
          </a:bodyPr>
          <a:lstStyle/>
          <a:p>
            <a:pPr algn="l" latinLnBrk="0">
              <a:defRPr sz="4050" b="1">
                <a:solidFill>
                  <a:srgbClr val="212A33"/>
                </a:solidFill>
                <a:latin typeface="Calibri"/>
                <a:ea typeface="Calibri"/>
                <a:cs typeface="Calibri"/>
              </a:defRPr>
            </a:pPr>
            <a:r>
              <a:rPr sz="4050" b="1">
                <a:solidFill>
                  <a:srgbClr val="212A33"/>
                </a:solidFill>
                <a:latin typeface="Calibri"/>
                <a:ea typeface="Calibri"/>
                <a:cs typeface="Calibri"/>
              </a:rPr>
              <a:t>Mustafa Ayub Khan, Temur Akhtamjonov, Gihun Lee  |  Team FP5</a:t>
            </a:r>
          </a:p>
        </p:txBody>
      </p:sp>
      <p:sp>
        <p:nvSpPr>
          <p:cNvPr id="6" name="course-instructor">
            <a:extLst>
              <a:ext uri="{FF2B5EF4-FFF2-40B4-BE49-F238E27FC236}">
                <a16:creationId xmlns:a16="http://schemas.microsoft.com/office/drawing/2014/main" id="{E0620329-B4C6-41DE-A2DD-7C1BAB05722F}"/>
              </a:ext>
            </a:extLst>
          </p:cNvPr>
          <p:cNvSpPr>
            <a:spLocks noGrp="1"/>
          </p:cNvSpPr>
          <p:nvPr/>
        </p:nvSpPr>
        <p:spPr>
          <a:xfrm>
            <a:off x="1333500" y="5229225"/>
            <a:ext cx="28575000" cy="619125"/>
          </a:xfrm>
          <a:prstGeom prst="rect">
            <a:avLst/>
          </a:prstGeom>
          <a:noFill/>
          <a:ln w="0">
            <a:noFill/>
            <a:prstDash val="solid"/>
          </a:ln>
        </p:spPr>
        <p:txBody>
          <a:bodyPr>
            <a:noAutofit/>
          </a:bodyPr>
          <a:lstStyle/>
          <a:p>
            <a:pPr algn="l" latinLnBrk="0">
              <a:defRPr sz="3000" b="0">
                <a:solidFill>
                  <a:srgbClr val="212A33"/>
                </a:solidFill>
                <a:latin typeface="Calibri"/>
                <a:ea typeface="Calibri"/>
                <a:cs typeface="Calibri"/>
              </a:defRPr>
            </a:pPr>
            <a:r>
              <a:rPr sz="3000" b="0">
                <a:solidFill>
                  <a:srgbClr val="212A33"/>
                </a:solidFill>
                <a:latin typeface="Calibri"/>
                <a:ea typeface="Calibri"/>
                <a:cs typeface="Calibri"/>
              </a:rPr>
              <a:t>Course instructor: Professor Luyao Zhang</a:t>
            </a:r>
          </a:p>
        </p:txBody>
      </p:sp>
      <p:pic>
        <p:nvPicPr>
          <p:cNvPr id="58" name="그림 57"/>
          <p:cNvPicPr>
            <a:picLocks noChangeAspect="1"/>
          </p:cNvPicPr>
          <p:nvPr/>
        </p:nvPicPr>
        <p:blipFill>
          <a:blip r:embed="rId3"/>
          <a:stretch/>
        </p:blipFill>
        <p:spPr>
          <a:xfrm>
            <a:off x="32575500" y="2190750"/>
            <a:ext cx="8096250" cy="2595818"/>
          </a:xfrm>
          <a:prstGeom prst="rect">
            <a:avLst/>
          </a:prstGeom>
        </p:spPr>
      </p:pic>
      <p:sp>
        <p:nvSpPr>
          <p:cNvPr id="8" name="takeaway-band">
            <a:extLst>
              <a:ext uri="{FF2B5EF4-FFF2-40B4-BE49-F238E27FC236}">
                <a16:creationId xmlns:a16="http://schemas.microsoft.com/office/drawing/2014/main" id="{E5C59819-8AE8-4F07-93AA-7B6F5A9A66D5}"/>
              </a:ext>
            </a:extLst>
          </p:cNvPr>
          <p:cNvSpPr>
            <a:spLocks noGrp="1"/>
          </p:cNvSpPr>
          <p:nvPr/>
        </p:nvSpPr>
        <p:spPr>
          <a:xfrm>
            <a:off x="0" y="6572250"/>
            <a:ext cx="42804000" cy="2143125"/>
          </a:xfrm>
          <a:prstGeom prst="rect">
            <a:avLst/>
          </a:prstGeom>
          <a:solidFill>
            <a:srgbClr val="003399"/>
          </a:solidFill>
          <a:ln w="0">
            <a:noFill/>
            <a:prstDash val="solid"/>
          </a:ln>
        </p:spPr>
        <p:txBody>
          <a:bodyPr/>
          <a:lstStyle/>
          <a:p>
            <a:pPr latinLnBrk="0"/>
            <a:endParaRPr lang="en-US"/>
          </a:p>
        </p:txBody>
      </p:sp>
      <p:sp>
        <p:nvSpPr>
          <p:cNvPr id="9" name="takeaway-label">
            <a:extLst>
              <a:ext uri="{FF2B5EF4-FFF2-40B4-BE49-F238E27FC236}">
                <a16:creationId xmlns:a16="http://schemas.microsoft.com/office/drawing/2014/main" id="{701690AD-D64E-4607-AE56-414773E6FFD1}"/>
              </a:ext>
            </a:extLst>
          </p:cNvPr>
          <p:cNvSpPr>
            <a:spLocks noGrp="1"/>
          </p:cNvSpPr>
          <p:nvPr/>
        </p:nvSpPr>
        <p:spPr>
          <a:xfrm>
            <a:off x="1333500" y="7239000"/>
            <a:ext cx="4667250" cy="619125"/>
          </a:xfrm>
          <a:prstGeom prst="rect">
            <a:avLst/>
          </a:prstGeom>
          <a:noFill/>
          <a:ln w="0">
            <a:noFill/>
            <a:prstDash val="solid"/>
          </a:ln>
        </p:spPr>
        <p:txBody>
          <a:bodyPr>
            <a:noAutofit/>
          </a:bodyPr>
          <a:lstStyle/>
          <a:p>
            <a:pPr algn="l" latinLnBrk="0">
              <a:defRPr sz="2700" b="1">
                <a:solidFill>
                  <a:srgbClr val="FFFFFF"/>
                </a:solidFill>
                <a:latin typeface="Calibri"/>
                <a:ea typeface="Calibri"/>
                <a:cs typeface="Calibri"/>
              </a:defRPr>
            </a:pPr>
            <a:r>
              <a:rPr sz="2700" b="1">
                <a:solidFill>
                  <a:srgbClr val="FFFFFF"/>
                </a:solidFill>
                <a:latin typeface="Calibri"/>
                <a:ea typeface="Calibri"/>
                <a:cs typeface="Calibri"/>
              </a:rPr>
              <a:t>KEY MESSAGE</a:t>
            </a:r>
          </a:p>
        </p:txBody>
      </p:sp>
      <p:sp>
        <p:nvSpPr>
          <p:cNvPr id="10" name="takeaway">
            <a:extLst>
              <a:ext uri="{FF2B5EF4-FFF2-40B4-BE49-F238E27FC236}">
                <a16:creationId xmlns:a16="http://schemas.microsoft.com/office/drawing/2014/main" id="{83EFFE95-83CD-498B-99EF-83DF06C3C922}"/>
              </a:ext>
            </a:extLst>
          </p:cNvPr>
          <p:cNvSpPr>
            <a:spLocks noGrp="1"/>
          </p:cNvSpPr>
          <p:nvPr/>
        </p:nvSpPr>
        <p:spPr>
          <a:xfrm>
            <a:off x="6477000" y="7000875"/>
            <a:ext cx="34993500" cy="1524000"/>
          </a:xfrm>
          <a:prstGeom prst="rect">
            <a:avLst/>
          </a:prstGeom>
          <a:noFill/>
          <a:ln w="0">
            <a:noFill/>
            <a:prstDash val="solid"/>
          </a:ln>
        </p:spPr>
        <p:txBody>
          <a:bodyPr wrap="square">
            <a:noAutofit/>
          </a:bodyPr>
          <a:lstStyle/>
          <a:p>
            <a:pPr algn="l" latinLnBrk="0">
              <a:defRPr sz="4425" b="1">
                <a:solidFill>
                  <a:srgbClr val="FFFFFF"/>
                </a:solidFill>
                <a:latin typeface="Calibri"/>
                <a:ea typeface="Calibri"/>
                <a:cs typeface="Calibri"/>
              </a:defRPr>
            </a:pPr>
            <a:r>
              <a:rPr sz="3600" b="1" dirty="0">
                <a:solidFill>
                  <a:srgbClr val="FFFFFF"/>
                </a:solidFill>
                <a:latin typeface="Calibri"/>
                <a:ea typeface="Calibri"/>
                <a:cs typeface="Calibri"/>
              </a:rPr>
              <a:t>A published, carbon-aware VCG rule beats or ties all 720 FCFS arrival orders on value net of carbon (19.2 vs. 16.96 mean),</a:t>
            </a:r>
          </a:p>
          <a:p>
            <a:pPr algn="l" latinLnBrk="0">
              <a:defRPr sz="4425" b="1">
                <a:solidFill>
                  <a:srgbClr val="FFFFFF"/>
                </a:solidFill>
                <a:latin typeface="Calibri"/>
                <a:ea typeface="Calibri"/>
                <a:cs typeface="Calibri"/>
              </a:defRPr>
            </a:pPr>
            <a:r>
              <a:rPr sz="3600" b="1" dirty="0">
                <a:solidFill>
                  <a:srgbClr val="FFFFFF"/>
                </a:solidFill>
                <a:latin typeface="Calibri"/>
                <a:ea typeface="Calibri"/>
                <a:cs typeface="Calibri"/>
              </a:rPr>
              <a:t>cuts emissions per unit of value (0.72 vs. 0.81 kg), and keeps truthful reporting optimal at every carbon weight tested, but serves fewer teams (4 vs. 4.93).</a:t>
            </a:r>
          </a:p>
        </p:txBody>
      </p:sp>
      <p:sp>
        <p:nvSpPr>
          <p:cNvPr id="11" name="question-model-title">
            <a:extLst>
              <a:ext uri="{FF2B5EF4-FFF2-40B4-BE49-F238E27FC236}">
                <a16:creationId xmlns:a16="http://schemas.microsoft.com/office/drawing/2014/main" id="{CD5C4DFB-E23C-429C-B167-B9CF4889CB3B}"/>
              </a:ext>
            </a:extLst>
          </p:cNvPr>
          <p:cNvSpPr>
            <a:spLocks noGrp="1"/>
          </p:cNvSpPr>
          <p:nvPr/>
        </p:nvSpPr>
        <p:spPr>
          <a:xfrm>
            <a:off x="1333500" y="9525000"/>
            <a:ext cx="11049000" cy="809625"/>
          </a:xfrm>
          <a:prstGeom prst="rect">
            <a:avLst/>
          </a:prstGeom>
          <a:noFill/>
          <a:ln w="0">
            <a:noFill/>
            <a:prstDash val="solid"/>
          </a:ln>
        </p:spPr>
        <p:txBody>
          <a:bodyPr>
            <a:noAutofit/>
          </a:bodyPr>
          <a:lstStyle/>
          <a:p>
            <a:pPr algn="l" latinLnBrk="0">
              <a:defRPr sz="4650" b="1">
                <a:solidFill>
                  <a:srgbClr val="003399"/>
                </a:solidFill>
                <a:latin typeface="Calibri"/>
                <a:ea typeface="Calibri"/>
                <a:cs typeface="Calibri"/>
              </a:defRPr>
            </a:pPr>
            <a:r>
              <a:rPr sz="4650" b="1">
                <a:solidFill>
                  <a:srgbClr val="003399"/>
                </a:solidFill>
                <a:latin typeface="Calibri"/>
                <a:ea typeface="Calibri"/>
                <a:cs typeface="Calibri"/>
              </a:rPr>
              <a:t>01   Question &amp; model</a:t>
            </a:r>
          </a:p>
        </p:txBody>
      </p:sp>
      <p:sp>
        <p:nvSpPr>
          <p:cNvPr id="12" name="question-model-title-rule">
            <a:extLst>
              <a:ext uri="{FF2B5EF4-FFF2-40B4-BE49-F238E27FC236}">
                <a16:creationId xmlns:a16="http://schemas.microsoft.com/office/drawing/2014/main" id="{F81F4A35-5377-44CB-941D-4B8D9F26180B}"/>
              </a:ext>
            </a:extLst>
          </p:cNvPr>
          <p:cNvSpPr>
            <a:spLocks noGrp="1"/>
          </p:cNvSpPr>
          <p:nvPr/>
        </p:nvSpPr>
        <p:spPr>
          <a:xfrm>
            <a:off x="1333500" y="10506075"/>
            <a:ext cx="11049000" cy="47625"/>
          </a:xfrm>
          <a:prstGeom prst="rect">
            <a:avLst/>
          </a:prstGeom>
          <a:solidFill>
            <a:srgbClr val="006633"/>
          </a:solidFill>
          <a:ln w="0">
            <a:noFill/>
            <a:prstDash val="solid"/>
          </a:ln>
        </p:spPr>
        <p:txBody>
          <a:bodyPr/>
          <a:lstStyle/>
          <a:p>
            <a:pPr latinLnBrk="0"/>
            <a:endParaRPr lang="en-US"/>
          </a:p>
        </p:txBody>
      </p:sp>
      <p:sp>
        <p:nvSpPr>
          <p:cNvPr id="13" name="research-question-heading">
            <a:extLst>
              <a:ext uri="{FF2B5EF4-FFF2-40B4-BE49-F238E27FC236}">
                <a16:creationId xmlns:a16="http://schemas.microsoft.com/office/drawing/2014/main" id="{4190E777-F9CF-4131-93FB-BBFC74FF79EA}"/>
              </a:ext>
            </a:extLst>
          </p:cNvPr>
          <p:cNvSpPr>
            <a:spLocks noGrp="1"/>
          </p:cNvSpPr>
          <p:nvPr/>
        </p:nvSpPr>
        <p:spPr>
          <a:xfrm>
            <a:off x="1333500" y="11146536"/>
            <a:ext cx="11049000" cy="666750"/>
          </a:xfrm>
          <a:prstGeom prst="rect">
            <a:avLst/>
          </a:prstGeom>
          <a:noFill/>
          <a:ln w="0">
            <a:noFill/>
            <a:prstDash val="solid"/>
          </a:ln>
        </p:spPr>
        <p:txBody>
          <a:bodyPr>
            <a:noAutofit/>
          </a:bodyPr>
          <a:lstStyle/>
          <a:p>
            <a:pPr algn="l" latinLnBrk="0">
              <a:defRPr sz="3375" b="1">
                <a:solidFill>
                  <a:srgbClr val="003399"/>
                </a:solidFill>
                <a:latin typeface="Calibri"/>
                <a:ea typeface="Calibri"/>
                <a:cs typeface="Calibri"/>
              </a:defRPr>
            </a:pPr>
            <a:r>
              <a:rPr sz="3375" b="1">
                <a:solidFill>
                  <a:srgbClr val="003399"/>
                </a:solidFill>
                <a:latin typeface="Calibri"/>
                <a:ea typeface="Calibri"/>
                <a:cs typeface="Calibri"/>
              </a:rPr>
              <a:t>Setting &amp; verified gap</a:t>
            </a:r>
          </a:p>
        </p:txBody>
      </p:sp>
      <p:sp>
        <p:nvSpPr>
          <p:cNvPr id="14" name="research-question">
            <a:extLst>
              <a:ext uri="{FF2B5EF4-FFF2-40B4-BE49-F238E27FC236}">
                <a16:creationId xmlns:a16="http://schemas.microsoft.com/office/drawing/2014/main" id="{76FF89C4-3045-4C47-A236-4952EAA04A98}"/>
              </a:ext>
            </a:extLst>
          </p:cNvPr>
          <p:cNvSpPr>
            <a:spLocks noGrp="1"/>
          </p:cNvSpPr>
          <p:nvPr/>
        </p:nvSpPr>
        <p:spPr>
          <a:xfrm>
            <a:off x="1333500" y="11841480"/>
            <a:ext cx="11049000" cy="2286000"/>
          </a:xfrm>
          <a:prstGeom prst="rect">
            <a:avLst/>
          </a:prstGeom>
          <a:noFill/>
          <a:ln w="0">
            <a:noFill/>
            <a:prstDash val="solid"/>
          </a:ln>
        </p:spPr>
        <p:txBody>
          <a:bodyPr wrap="square">
            <a:noAutofit/>
          </a:bodyPr>
          <a:lstStyle/>
          <a:p>
            <a:pPr algn="l" latinLnBrk="0">
              <a:spcAft>
                <a:spcPts val="600"/>
              </a:spcAft>
              <a:defRPr sz="3300" b="0">
                <a:solidFill>
                  <a:srgbClr val="212A33"/>
                </a:solidFill>
                <a:latin typeface="Calibri"/>
                <a:ea typeface="Calibri"/>
                <a:cs typeface="Calibri"/>
              </a:defRPr>
            </a:pPr>
            <a:r>
              <a:rPr sz="2500" b="1" dirty="0">
                <a:solidFill>
                  <a:srgbClr val="212A33"/>
                </a:solidFill>
                <a:latin typeface="Calibri"/>
                <a:ea typeface="Calibri"/>
                <a:cs typeface="Calibri"/>
              </a:rPr>
              <a:t>Setting: </a:t>
            </a:r>
            <a:r>
              <a:rPr sz="2500" b="0" dirty="0">
                <a:solidFill>
                  <a:srgbClr val="212A33"/>
                </a:solidFill>
                <a:latin typeface="Calibri"/>
                <a:ea typeface="Calibri"/>
                <a:cs typeface="Calibri"/>
              </a:rPr>
              <a:t>AI demand outpaces compute; queues ignore both value and carbon.</a:t>
            </a:r>
          </a:p>
          <a:p>
            <a:pPr algn="l" latinLnBrk="0">
              <a:spcAft>
                <a:spcPts val="600"/>
              </a:spcAft>
              <a:defRPr sz="3300" b="0">
                <a:solidFill>
                  <a:srgbClr val="212A33"/>
                </a:solidFill>
                <a:latin typeface="Calibri"/>
                <a:ea typeface="Calibri"/>
                <a:cs typeface="Calibri"/>
              </a:defRPr>
            </a:pPr>
            <a:r>
              <a:rPr sz="2500" b="1" dirty="0">
                <a:solidFill>
                  <a:srgbClr val="212A33"/>
                </a:solidFill>
                <a:latin typeface="Calibri"/>
                <a:ea typeface="Calibri"/>
                <a:cs typeface="Calibri"/>
              </a:rPr>
              <a:t>Gap: </a:t>
            </a:r>
            <a:r>
              <a:rPr sz="2500" b="0" dirty="0">
                <a:solidFill>
                  <a:srgbClr val="212A33"/>
                </a:solidFill>
                <a:latin typeface="Calibri"/>
                <a:ea typeface="Calibri"/>
                <a:cs typeface="Calibri"/>
              </a:rPr>
              <a:t>FAIR-Compute [5] shows that value-blind scheduling loses about a third of scientific value, but it does not quantify carbon and leaves truthful-reporting mechanisms to future work. We build that piece at an exactly solvable scale.</a:t>
            </a:r>
          </a:p>
        </p:txBody>
      </p:sp>
      <p:sp>
        <p:nvSpPr>
          <p:cNvPr id="15" name="model-heading">
            <a:extLst>
              <a:ext uri="{FF2B5EF4-FFF2-40B4-BE49-F238E27FC236}">
                <a16:creationId xmlns:a16="http://schemas.microsoft.com/office/drawing/2014/main" id="{19910E6B-D44C-401D-8E76-04691CDB9EA9}"/>
              </a:ext>
            </a:extLst>
          </p:cNvPr>
          <p:cNvSpPr>
            <a:spLocks noGrp="1"/>
          </p:cNvSpPr>
          <p:nvPr/>
        </p:nvSpPr>
        <p:spPr>
          <a:xfrm>
            <a:off x="1333500" y="14310360"/>
            <a:ext cx="11049000" cy="666750"/>
          </a:xfrm>
          <a:prstGeom prst="rect">
            <a:avLst/>
          </a:prstGeom>
          <a:noFill/>
          <a:ln w="0">
            <a:noFill/>
            <a:prstDash val="solid"/>
          </a:ln>
        </p:spPr>
        <p:txBody>
          <a:bodyPr>
            <a:noAutofit/>
          </a:bodyPr>
          <a:lstStyle/>
          <a:p>
            <a:pPr algn="l" latinLnBrk="0">
              <a:defRPr sz="3375" b="1">
                <a:solidFill>
                  <a:srgbClr val="003399"/>
                </a:solidFill>
                <a:latin typeface="Calibri"/>
                <a:ea typeface="Calibri"/>
                <a:cs typeface="Calibri"/>
              </a:defRPr>
            </a:pPr>
            <a:r>
              <a:rPr sz="3375" b="1" dirty="0">
                <a:solidFill>
                  <a:srgbClr val="003399"/>
                </a:solidFill>
                <a:latin typeface="Calibri"/>
                <a:ea typeface="Calibri"/>
                <a:cs typeface="Calibri"/>
              </a:rPr>
              <a:t>Strategic model</a:t>
            </a:r>
          </a:p>
        </p:txBody>
      </p:sp>
      <p:sp>
        <p:nvSpPr>
          <p:cNvPr id="16" name="model">
            <a:extLst>
              <a:ext uri="{FF2B5EF4-FFF2-40B4-BE49-F238E27FC236}">
                <a16:creationId xmlns:a16="http://schemas.microsoft.com/office/drawing/2014/main" id="{BD93B7B7-C6A1-4C6C-8B07-9664A884A221}"/>
              </a:ext>
            </a:extLst>
          </p:cNvPr>
          <p:cNvSpPr>
            <a:spLocks noGrp="1"/>
          </p:cNvSpPr>
          <p:nvPr/>
        </p:nvSpPr>
        <p:spPr>
          <a:xfrm>
            <a:off x="1333500" y="14996159"/>
            <a:ext cx="11049000" cy="4663440"/>
          </a:xfrm>
          <a:prstGeom prst="rect">
            <a:avLst/>
          </a:prstGeom>
          <a:noFill/>
          <a:ln w="0">
            <a:noFill/>
            <a:prstDash val="solid"/>
          </a:ln>
        </p:spPr>
        <p:txBody>
          <a:bodyPr wrap="square">
            <a:noAutofit/>
          </a:bodyPr>
          <a:lstStyle/>
          <a:p>
            <a:pPr algn="l" latinLnBrk="0">
              <a:spcAft>
                <a:spcPts val="600"/>
              </a:spcAft>
              <a:defRPr sz="3300" b="0">
                <a:solidFill>
                  <a:srgbClr val="212A33"/>
                </a:solidFill>
                <a:latin typeface="Calibri"/>
                <a:ea typeface="Calibri"/>
                <a:cs typeface="Calibri"/>
              </a:defRPr>
            </a:pPr>
            <a:r>
              <a:rPr sz="2500" b="1" dirty="0">
                <a:solidFill>
                  <a:srgbClr val="212A33"/>
                </a:solidFill>
                <a:latin typeface="Calibri"/>
                <a:ea typeface="Calibri"/>
                <a:cs typeface="Calibri"/>
              </a:rPr>
              <a:t>Players: </a:t>
            </a:r>
            <a:r>
              <a:rPr sz="2500" b="0" dirty="0">
                <a:solidFill>
                  <a:srgbClr val="212A33"/>
                </a:solidFill>
                <a:latin typeface="Calibri"/>
                <a:ea typeface="Calibri"/>
                <a:cs typeface="Calibri"/>
              </a:rPr>
              <a:t>six teams A–F; each privately knows vᵢ ∈ {3, 6, 9} and sends one sealed report rᵢ (static game, incomplete information).</a:t>
            </a:r>
          </a:p>
          <a:p>
            <a:pPr algn="l" latinLnBrk="0">
              <a:spcAft>
                <a:spcPts val="600"/>
              </a:spcAft>
              <a:defRPr sz="3300" b="0">
                <a:solidFill>
                  <a:srgbClr val="212A33"/>
                </a:solidFill>
                <a:latin typeface="Calibri"/>
                <a:ea typeface="Calibri"/>
                <a:cs typeface="Calibri"/>
              </a:defRPr>
            </a:pPr>
            <a:r>
              <a:rPr sz="2500" b="1" dirty="0">
                <a:solidFill>
                  <a:srgbClr val="212A33"/>
                </a:solidFill>
                <a:latin typeface="Calibri"/>
                <a:ea typeface="Calibri"/>
                <a:cs typeface="Calibri"/>
              </a:rPr>
              <a:t>Public: </a:t>
            </a:r>
            <a:r>
              <a:rPr sz="2500" b="0" dirty="0">
                <a:solidFill>
                  <a:srgbClr val="212A33"/>
                </a:solidFill>
                <a:latin typeface="Calibri"/>
                <a:ea typeface="Calibri"/>
                <a:cs typeface="Calibri"/>
              </a:rPr>
              <a:t>request dᵢ, emissions eᵢ = 0.24 dᵢ kg CO₂e, capacity K = 100, λ = 0.5.</a:t>
            </a:r>
          </a:p>
          <a:p>
            <a:pPr algn="l" latinLnBrk="0">
              <a:spcAft>
                <a:spcPts val="600"/>
              </a:spcAft>
              <a:defRPr sz="3300" b="0">
                <a:solidFill>
                  <a:srgbClr val="212A33"/>
                </a:solidFill>
                <a:latin typeface="Calibri"/>
                <a:ea typeface="Calibri"/>
                <a:cs typeface="Calibri"/>
              </a:defRPr>
            </a:pPr>
            <a:r>
              <a:rPr sz="2500" b="1" dirty="0">
                <a:solidFill>
                  <a:srgbClr val="212A33"/>
                </a:solidFill>
                <a:latin typeface="Calibri"/>
                <a:ea typeface="Calibri"/>
                <a:cs typeface="Calibri"/>
              </a:rPr>
              <a:t>Rule: </a:t>
            </a:r>
            <a:r>
              <a:rPr sz="2500" b="0" dirty="0">
                <a:solidFill>
                  <a:srgbClr val="212A33"/>
                </a:solidFill>
                <a:latin typeface="Calibri"/>
                <a:ea typeface="Calibri"/>
                <a:cs typeface="Calibri"/>
              </a:rPr>
              <a:t>pick the feasible group S* maximizing Σ(rᵢ − λeᵢ) over all 64 groups; each winner pays the score the other teams lose because it is selected.</a:t>
            </a:r>
          </a:p>
          <a:p>
            <a:pPr algn="l" latinLnBrk="0">
              <a:spcAft>
                <a:spcPts val="600"/>
              </a:spcAft>
              <a:defRPr sz="3300" b="0">
                <a:solidFill>
                  <a:srgbClr val="212A33"/>
                </a:solidFill>
                <a:latin typeface="Calibri"/>
                <a:ea typeface="Calibri"/>
                <a:cs typeface="Calibri"/>
              </a:defRPr>
            </a:pPr>
            <a:r>
              <a:rPr sz="2500" b="1" dirty="0">
                <a:solidFill>
                  <a:srgbClr val="212A33"/>
                </a:solidFill>
                <a:latin typeface="Calibri"/>
                <a:ea typeface="Calibri"/>
                <a:cs typeface="Calibri"/>
              </a:rPr>
              <a:t>Payoff: </a:t>
            </a:r>
            <a:r>
              <a:rPr sz="2500" b="0" dirty="0">
                <a:solidFill>
                  <a:srgbClr val="212A33"/>
                </a:solidFill>
                <a:latin typeface="Calibri"/>
                <a:ea typeface="Calibri"/>
                <a:cs typeface="Calibri"/>
              </a:rPr>
              <a:t>uᵢ = vᵢ − λeᵢ − pᵢ if selected, else 0.</a:t>
            </a:r>
          </a:p>
          <a:p>
            <a:pPr algn="l" latinLnBrk="0">
              <a:spcAft>
                <a:spcPts val="600"/>
              </a:spcAft>
              <a:defRPr sz="3300" b="0">
                <a:solidFill>
                  <a:srgbClr val="212A33"/>
                </a:solidFill>
                <a:latin typeface="Calibri"/>
                <a:ea typeface="Calibri"/>
                <a:cs typeface="Calibri"/>
              </a:defRPr>
            </a:pPr>
            <a:r>
              <a:rPr sz="2500" b="1" dirty="0">
                <a:solidFill>
                  <a:srgbClr val="212A33"/>
                </a:solidFill>
                <a:latin typeface="Calibri"/>
                <a:ea typeface="Calibri"/>
                <a:cs typeface="Calibri"/>
              </a:rPr>
              <a:t>Solution: </a:t>
            </a:r>
            <a:r>
              <a:rPr sz="2500" b="0" dirty="0">
                <a:solidFill>
                  <a:srgbClr val="212A33"/>
                </a:solidFill>
                <a:latin typeface="Calibri"/>
                <a:ea typeface="Calibri"/>
                <a:cs typeface="Calibri"/>
              </a:rPr>
              <a:t>truthful rᵢ = vᵢ is dominant (DSIC) [1–4]: the price never depends on a team's own report.</a:t>
            </a:r>
          </a:p>
          <a:p>
            <a:pPr algn="l" latinLnBrk="0">
              <a:spcAft>
                <a:spcPts val="600"/>
              </a:spcAft>
              <a:defRPr sz="3300" b="0">
                <a:solidFill>
                  <a:srgbClr val="212A33"/>
                </a:solidFill>
                <a:latin typeface="Calibri"/>
                <a:ea typeface="Calibri"/>
                <a:cs typeface="Calibri"/>
              </a:defRPr>
            </a:pPr>
            <a:r>
              <a:rPr sz="2500" b="1" dirty="0">
                <a:solidFill>
                  <a:srgbClr val="212A33"/>
                </a:solidFill>
                <a:latin typeface="Calibri"/>
                <a:ea typeface="Calibri"/>
                <a:cs typeface="Calibri"/>
              </a:rPr>
              <a:t>Analogy stops: </a:t>
            </a:r>
            <a:r>
              <a:rPr sz="2500" b="0" dirty="0">
                <a:solidFill>
                  <a:srgbClr val="212A33"/>
                </a:solidFill>
                <a:latin typeface="Calibri"/>
                <a:ea typeface="Calibri"/>
                <a:cs typeface="Calibri"/>
              </a:rPr>
              <a:t>credits are not money; values are never verified.</a:t>
            </a:r>
          </a:p>
        </p:txBody>
      </p:sp>
      <p:sp>
        <p:nvSpPr>
          <p:cNvPr id="17" name="lenses-heading">
            <a:extLst>
              <a:ext uri="{FF2B5EF4-FFF2-40B4-BE49-F238E27FC236}">
                <a16:creationId xmlns:a16="http://schemas.microsoft.com/office/drawing/2014/main" id="{DAFBC93E-B2F0-417F-9381-A98FDF506C48}"/>
              </a:ext>
            </a:extLst>
          </p:cNvPr>
          <p:cNvSpPr>
            <a:spLocks noGrp="1"/>
          </p:cNvSpPr>
          <p:nvPr/>
        </p:nvSpPr>
        <p:spPr>
          <a:xfrm>
            <a:off x="1333500" y="23454360"/>
            <a:ext cx="11049000" cy="666750"/>
          </a:xfrm>
          <a:prstGeom prst="rect">
            <a:avLst/>
          </a:prstGeom>
          <a:noFill/>
          <a:ln w="0">
            <a:noFill/>
            <a:prstDash val="solid"/>
          </a:ln>
        </p:spPr>
        <p:txBody>
          <a:bodyPr>
            <a:noAutofit/>
          </a:bodyPr>
          <a:lstStyle/>
          <a:p>
            <a:pPr algn="l" latinLnBrk="0">
              <a:defRPr sz="3375" b="1">
                <a:solidFill>
                  <a:srgbClr val="003399"/>
                </a:solidFill>
                <a:latin typeface="Calibri"/>
                <a:ea typeface="Calibri"/>
                <a:cs typeface="Calibri"/>
              </a:defRPr>
            </a:pPr>
            <a:r>
              <a:rPr sz="3375" b="1">
                <a:solidFill>
                  <a:srgbClr val="003399"/>
                </a:solidFill>
                <a:latin typeface="Calibri"/>
                <a:ea typeface="Calibri"/>
                <a:cs typeface="Calibri"/>
              </a:rPr>
              <a:t>Three lenses</a:t>
            </a:r>
          </a:p>
        </p:txBody>
      </p:sp>
      <p:sp>
        <p:nvSpPr>
          <p:cNvPr id="18" name="lenses">
            <a:extLst>
              <a:ext uri="{FF2B5EF4-FFF2-40B4-BE49-F238E27FC236}">
                <a16:creationId xmlns:a16="http://schemas.microsoft.com/office/drawing/2014/main" id="{E2BAF178-74E4-4DFF-A2BB-763467E733E6}"/>
              </a:ext>
            </a:extLst>
          </p:cNvPr>
          <p:cNvSpPr>
            <a:spLocks noGrp="1"/>
          </p:cNvSpPr>
          <p:nvPr/>
        </p:nvSpPr>
        <p:spPr>
          <a:xfrm>
            <a:off x="1333500" y="24140160"/>
            <a:ext cx="11049000" cy="2834640"/>
          </a:xfrm>
          <a:prstGeom prst="rect">
            <a:avLst/>
          </a:prstGeom>
          <a:noFill/>
          <a:ln w="0">
            <a:noFill/>
            <a:prstDash val="solid"/>
          </a:ln>
        </p:spPr>
        <p:txBody>
          <a:bodyPr wrap="square">
            <a:noAutofit/>
          </a:bodyPr>
          <a:lstStyle/>
          <a:p>
            <a:pPr latinLnBrk="0">
              <a:spcAft>
                <a:spcPts val="600"/>
              </a:spcAft>
              <a:defRPr sz="3300" b="0">
                <a:solidFill>
                  <a:srgbClr val="212A33"/>
                </a:solidFill>
                <a:latin typeface="Calibri"/>
                <a:ea typeface="Calibri"/>
                <a:cs typeface="Calibri"/>
              </a:defRPr>
            </a:pPr>
            <a:r>
              <a:rPr lang="en" sz="2500" b="1" dirty="0">
                <a:solidFill>
                  <a:srgbClr val="212A33"/>
                </a:solidFill>
                <a:latin typeface="Calibri"/>
                <a:ea typeface="Calibri"/>
                <a:cs typeface="Calibri"/>
              </a:rPr>
              <a:t>Game theory: </a:t>
            </a:r>
            <a:r>
              <a:rPr lang="en" sz="2500" b="0" dirty="0">
                <a:solidFill>
                  <a:srgbClr val="212A33"/>
                </a:solidFill>
                <a:latin typeface="Calibri"/>
                <a:ea typeface="Calibri"/>
                <a:cs typeface="Calibri"/>
              </a:rPr>
              <a:t>truthful reporting is each team's best strategy, whatever others report.</a:t>
            </a:r>
          </a:p>
          <a:p>
            <a:pPr latinLnBrk="0">
              <a:spcAft>
                <a:spcPts val="600"/>
              </a:spcAft>
              <a:defRPr sz="3300" b="0">
                <a:solidFill>
                  <a:srgbClr val="212A33"/>
                </a:solidFill>
                <a:latin typeface="Calibri"/>
                <a:ea typeface="Calibri"/>
                <a:cs typeface="Calibri"/>
              </a:defRPr>
            </a:pPr>
            <a:r>
              <a:rPr lang="en" sz="2500" b="1" dirty="0">
                <a:solidFill>
                  <a:srgbClr val="212A33"/>
                </a:solidFill>
                <a:latin typeface="Calibri"/>
                <a:ea typeface="Calibri"/>
                <a:cs typeface="Calibri"/>
              </a:rPr>
              <a:t>Social choice: </a:t>
            </a:r>
            <a:r>
              <a:rPr lang="en" sz="2500" b="0" dirty="0">
                <a:solidFill>
                  <a:srgbClr val="212A33"/>
                </a:solidFill>
                <a:latin typeface="Calibri"/>
                <a:ea typeface="Calibri"/>
                <a:cs typeface="Calibri"/>
              </a:rPr>
              <a:t>value net of carbon under capacity; the cost is fewer teams served (4 vs. 4.93).</a:t>
            </a:r>
          </a:p>
          <a:p>
            <a:pPr latinLnBrk="0">
              <a:spcAft>
                <a:spcPts val="600"/>
              </a:spcAft>
              <a:defRPr sz="3300" b="0">
                <a:solidFill>
                  <a:srgbClr val="212A33"/>
                </a:solidFill>
                <a:latin typeface="Calibri"/>
                <a:ea typeface="Calibri"/>
                <a:cs typeface="Calibri"/>
              </a:defRPr>
            </a:pPr>
            <a:r>
              <a:rPr lang="en" sz="2500" b="1" dirty="0">
                <a:solidFill>
                  <a:srgbClr val="212A33"/>
                </a:solidFill>
                <a:latin typeface="Calibri"/>
                <a:ea typeface="Calibri"/>
                <a:cs typeface="Calibri"/>
              </a:rPr>
              <a:t>Mechanism design: </a:t>
            </a:r>
            <a:r>
              <a:rPr lang="en" sz="2500" b="0" dirty="0">
                <a:solidFill>
                  <a:srgbClr val="212A33"/>
                </a:solidFill>
                <a:latin typeface="Calibri"/>
                <a:ea typeface="Calibri"/>
                <a:cs typeface="Calibri"/>
              </a:rPr>
              <a:t>a published score rule with VCG prices replaces the queue; λ moves prices, not the winners or the best strategy.</a:t>
            </a:r>
          </a:p>
        </p:txBody>
      </p:sp>
      <p:sp>
        <p:nvSpPr>
          <p:cNvPr id="19" name="auction-heading">
            <a:extLst>
              <a:ext uri="{FF2B5EF4-FFF2-40B4-BE49-F238E27FC236}">
                <a16:creationId xmlns:a16="http://schemas.microsoft.com/office/drawing/2014/main" id="{0A85FF4E-C110-48A1-8567-A06DAC93CC6E}"/>
              </a:ext>
            </a:extLst>
          </p:cNvPr>
          <p:cNvSpPr>
            <a:spLocks noGrp="1"/>
          </p:cNvSpPr>
          <p:nvPr/>
        </p:nvSpPr>
        <p:spPr>
          <a:xfrm>
            <a:off x="1333500" y="19705320"/>
            <a:ext cx="11049000" cy="666750"/>
          </a:xfrm>
          <a:prstGeom prst="rect">
            <a:avLst/>
          </a:prstGeom>
          <a:noFill/>
          <a:ln w="0">
            <a:noFill/>
            <a:prstDash val="solid"/>
          </a:ln>
        </p:spPr>
        <p:txBody>
          <a:bodyPr>
            <a:noAutofit/>
          </a:bodyPr>
          <a:lstStyle/>
          <a:p>
            <a:pPr algn="l" latinLnBrk="0">
              <a:defRPr sz="3375" b="1">
                <a:solidFill>
                  <a:srgbClr val="003399"/>
                </a:solidFill>
                <a:latin typeface="Calibri"/>
                <a:ea typeface="Calibri"/>
                <a:cs typeface="Calibri"/>
              </a:defRPr>
            </a:pPr>
            <a:r>
              <a:rPr sz="3375" b="1">
                <a:solidFill>
                  <a:srgbClr val="003399"/>
                </a:solidFill>
                <a:latin typeface="Calibri"/>
                <a:ea typeface="Calibri"/>
                <a:cs typeface="Calibri"/>
              </a:rPr>
              <a:t>Reduced payoff matrix: Team C vs. Team E</a:t>
            </a:r>
          </a:p>
        </p:txBody>
      </p:sp>
      <p:sp>
        <p:nvSpPr>
          <p:cNvPr id="20" name="auction">
            <a:extLst>
              <a:ext uri="{FF2B5EF4-FFF2-40B4-BE49-F238E27FC236}">
                <a16:creationId xmlns:a16="http://schemas.microsoft.com/office/drawing/2014/main" id="{182900A4-D41C-4FC8-8D3B-A44A8758AC89}"/>
              </a:ext>
            </a:extLst>
          </p:cNvPr>
          <p:cNvSpPr>
            <a:spLocks noGrp="1"/>
          </p:cNvSpPr>
          <p:nvPr/>
        </p:nvSpPr>
        <p:spPr>
          <a:xfrm>
            <a:off x="1333500" y="22311360"/>
            <a:ext cx="11049000" cy="1005840"/>
          </a:xfrm>
          <a:prstGeom prst="rect">
            <a:avLst/>
          </a:prstGeom>
          <a:noFill/>
          <a:ln w="0">
            <a:noFill/>
            <a:prstDash val="solid"/>
          </a:ln>
        </p:spPr>
        <p:txBody>
          <a:bodyPr wrap="square">
            <a:noAutofit/>
          </a:bodyPr>
          <a:lstStyle/>
          <a:p>
            <a:pPr algn="l" latinLnBrk="0">
              <a:spcAft>
                <a:spcPts val="600"/>
              </a:spcAft>
              <a:defRPr sz="3150" b="0">
                <a:solidFill>
                  <a:srgbClr val="212A33"/>
                </a:solidFill>
                <a:latin typeface="Calibri"/>
                <a:ea typeface="Calibri"/>
                <a:cs typeface="Calibri"/>
              </a:defRPr>
            </a:pPr>
            <a:r>
              <a:rPr sz="2200" b="0" dirty="0">
                <a:solidFill>
                  <a:srgbClr val="212A33"/>
                </a:solidFill>
                <a:latin typeface="Calibri"/>
                <a:ea typeface="Calibri"/>
                <a:cs typeface="Calibri"/>
              </a:rPr>
              <a:t>Simplification: only C and E choose; A, B, D, F report truthfully. Truth is weakly dominant for both, and C's overreport pushes the truthful E out.</a:t>
            </a:r>
          </a:p>
        </p:txBody>
      </p:sp>
      <p:sp>
        <p:nvSpPr>
          <p:cNvPr id="21" name="design-evidence-title">
            <a:extLst>
              <a:ext uri="{FF2B5EF4-FFF2-40B4-BE49-F238E27FC236}">
                <a16:creationId xmlns:a16="http://schemas.microsoft.com/office/drawing/2014/main" id="{5BD8C5A5-8D38-4D0E-9168-5677F645D725}"/>
              </a:ext>
            </a:extLst>
          </p:cNvPr>
          <p:cNvSpPr>
            <a:spLocks noGrp="1"/>
          </p:cNvSpPr>
          <p:nvPr/>
        </p:nvSpPr>
        <p:spPr>
          <a:xfrm>
            <a:off x="13335000" y="9525000"/>
            <a:ext cx="16134000" cy="809625"/>
          </a:xfrm>
          <a:prstGeom prst="rect">
            <a:avLst/>
          </a:prstGeom>
          <a:noFill/>
          <a:ln w="0">
            <a:noFill/>
            <a:prstDash val="solid"/>
          </a:ln>
        </p:spPr>
        <p:txBody>
          <a:bodyPr>
            <a:noAutofit/>
          </a:bodyPr>
          <a:lstStyle/>
          <a:p>
            <a:pPr algn="l" latinLnBrk="0">
              <a:defRPr sz="4650" b="1">
                <a:solidFill>
                  <a:srgbClr val="003399"/>
                </a:solidFill>
                <a:latin typeface="Calibri"/>
                <a:ea typeface="Calibri"/>
                <a:cs typeface="Calibri"/>
              </a:defRPr>
            </a:pPr>
            <a:r>
              <a:rPr sz="4650" b="1">
                <a:solidFill>
                  <a:srgbClr val="003399"/>
                </a:solidFill>
                <a:latin typeface="Calibri"/>
                <a:ea typeface="Calibri"/>
                <a:cs typeface="Calibri"/>
              </a:rPr>
              <a:t>02   Design &amp; evidence</a:t>
            </a:r>
          </a:p>
        </p:txBody>
      </p:sp>
      <p:sp>
        <p:nvSpPr>
          <p:cNvPr id="22" name="design-evidence-title-rule">
            <a:extLst>
              <a:ext uri="{FF2B5EF4-FFF2-40B4-BE49-F238E27FC236}">
                <a16:creationId xmlns:a16="http://schemas.microsoft.com/office/drawing/2014/main" id="{3074EA74-1821-4014-8E91-ECC3F7A887C1}"/>
              </a:ext>
            </a:extLst>
          </p:cNvPr>
          <p:cNvSpPr>
            <a:spLocks noGrp="1"/>
          </p:cNvSpPr>
          <p:nvPr/>
        </p:nvSpPr>
        <p:spPr>
          <a:xfrm>
            <a:off x="13335000" y="10506075"/>
            <a:ext cx="16134000" cy="47625"/>
          </a:xfrm>
          <a:prstGeom prst="rect">
            <a:avLst/>
          </a:prstGeom>
          <a:solidFill>
            <a:srgbClr val="006633"/>
          </a:solidFill>
          <a:ln w="0">
            <a:noFill/>
            <a:prstDash val="solid"/>
          </a:ln>
        </p:spPr>
        <p:txBody>
          <a:bodyPr/>
          <a:lstStyle/>
          <a:p>
            <a:pPr latinLnBrk="0"/>
            <a:endParaRPr lang="en-US"/>
          </a:p>
        </p:txBody>
      </p:sp>
      <p:sp>
        <p:nvSpPr>
          <p:cNvPr id="23" name="research-design-area">
            <a:extLst>
              <a:ext uri="{FF2B5EF4-FFF2-40B4-BE49-F238E27FC236}">
                <a16:creationId xmlns:a16="http://schemas.microsoft.com/office/drawing/2014/main" id="{6BFB0873-E93B-425C-B20A-BE7D9281AAB2}"/>
              </a:ext>
            </a:extLst>
          </p:cNvPr>
          <p:cNvSpPr>
            <a:spLocks noGrp="1"/>
          </p:cNvSpPr>
          <p:nvPr/>
        </p:nvSpPr>
        <p:spPr>
          <a:xfrm>
            <a:off x="13335000" y="11144250"/>
            <a:ext cx="16134000" cy="4667250"/>
          </a:xfrm>
          <a:prstGeom prst="rect">
            <a:avLst/>
          </a:prstGeom>
          <a:solidFill>
            <a:srgbClr val="F4F6F7"/>
          </a:solidFill>
          <a:ln w="19050">
            <a:solidFill>
              <a:srgbClr val="CFD5D9"/>
            </a:solidFill>
            <a:prstDash val="solid"/>
          </a:ln>
        </p:spPr>
        <p:txBody>
          <a:bodyPr/>
          <a:lstStyle/>
          <a:p>
            <a:pPr latinLnBrk="0"/>
            <a:endParaRPr lang="en-US"/>
          </a:p>
        </p:txBody>
      </p:sp>
      <p:sp>
        <p:nvSpPr>
          <p:cNvPr id="26" name="design-caption">
            <a:extLst>
              <a:ext uri="{FF2B5EF4-FFF2-40B4-BE49-F238E27FC236}">
                <a16:creationId xmlns:a16="http://schemas.microsoft.com/office/drawing/2014/main" id="{70CF347C-1901-4936-A975-9657C3531241}"/>
              </a:ext>
            </a:extLst>
          </p:cNvPr>
          <p:cNvSpPr>
            <a:spLocks noGrp="1"/>
          </p:cNvSpPr>
          <p:nvPr/>
        </p:nvSpPr>
        <p:spPr>
          <a:xfrm>
            <a:off x="13335000" y="16097250"/>
            <a:ext cx="16134000" cy="1190625"/>
          </a:xfrm>
          <a:prstGeom prst="rect">
            <a:avLst/>
          </a:prstGeom>
          <a:noFill/>
          <a:ln w="0">
            <a:noFill/>
            <a:prstDash val="solid"/>
          </a:ln>
        </p:spPr>
        <p:txBody>
          <a:bodyPr wrap="square">
            <a:noAutofit/>
          </a:bodyPr>
          <a:lstStyle/>
          <a:p>
            <a:pPr algn="l" latinLnBrk="0">
              <a:defRPr sz="2850" b="0">
                <a:solidFill>
                  <a:srgbClr val="56616B"/>
                </a:solidFill>
                <a:latin typeface="Calibri"/>
                <a:ea typeface="Calibri"/>
                <a:cs typeface="Calibri"/>
              </a:defRPr>
            </a:pPr>
            <a:r>
              <a:rPr sz="2400" b="1" dirty="0">
                <a:solidFill>
                  <a:srgbClr val="56616B"/>
                </a:solidFill>
                <a:latin typeface="Calibri"/>
                <a:ea typeface="Calibri"/>
                <a:cs typeface="Calibri"/>
              </a:rPr>
              <a:t>Figure 1. </a:t>
            </a:r>
            <a:r>
              <a:rPr sz="2400" b="0" dirty="0">
                <a:solidFill>
                  <a:srgbClr val="56616B"/>
                </a:solidFill>
                <a:latin typeface="Calibri"/>
                <a:ea typeface="Calibri"/>
                <a:cs typeface="Calibri"/>
              </a:rPr>
              <a:t>Research questions and setting. Six teams request 120 GPU-hours from a pool of 100. Values are private; requests and emissions are public. Q1 and Q2 are answered by the model and its exact computation, Q3 by play in the Hugging Face Space.</a:t>
            </a:r>
          </a:p>
        </p:txBody>
      </p:sp>
      <p:sp>
        <p:nvSpPr>
          <p:cNvPr id="27" name="main-result-area">
            <a:extLst>
              <a:ext uri="{FF2B5EF4-FFF2-40B4-BE49-F238E27FC236}">
                <a16:creationId xmlns:a16="http://schemas.microsoft.com/office/drawing/2014/main" id="{AF352E9D-B9F1-4E49-9DC0-059C3E7F7E02}"/>
              </a:ext>
            </a:extLst>
          </p:cNvPr>
          <p:cNvSpPr>
            <a:spLocks noGrp="1"/>
          </p:cNvSpPr>
          <p:nvPr/>
        </p:nvSpPr>
        <p:spPr>
          <a:xfrm>
            <a:off x="13335000" y="17621250"/>
            <a:ext cx="16134000" cy="6286500"/>
          </a:xfrm>
          <a:prstGeom prst="rect">
            <a:avLst/>
          </a:prstGeom>
          <a:solidFill>
            <a:srgbClr val="F4F6F7"/>
          </a:solidFill>
          <a:ln w="19050">
            <a:solidFill>
              <a:srgbClr val="CFD5D9"/>
            </a:solidFill>
            <a:prstDash val="solid"/>
          </a:ln>
        </p:spPr>
        <p:txBody>
          <a:bodyPr/>
          <a:lstStyle/>
          <a:p>
            <a:pPr latinLnBrk="0"/>
            <a:endParaRPr lang="en-US"/>
          </a:p>
        </p:txBody>
      </p:sp>
      <p:sp>
        <p:nvSpPr>
          <p:cNvPr id="30" name="result-caption">
            <a:extLst>
              <a:ext uri="{FF2B5EF4-FFF2-40B4-BE49-F238E27FC236}">
                <a16:creationId xmlns:a16="http://schemas.microsoft.com/office/drawing/2014/main" id="{C7A388AE-9A9C-4C69-A215-69F12E632900}"/>
              </a:ext>
            </a:extLst>
          </p:cNvPr>
          <p:cNvSpPr>
            <a:spLocks noGrp="1"/>
          </p:cNvSpPr>
          <p:nvPr/>
        </p:nvSpPr>
        <p:spPr>
          <a:xfrm>
            <a:off x="13335000" y="24241125"/>
            <a:ext cx="16134000" cy="3200400"/>
          </a:xfrm>
          <a:prstGeom prst="rect">
            <a:avLst/>
          </a:prstGeom>
          <a:noFill/>
          <a:ln w="0">
            <a:noFill/>
            <a:prstDash val="solid"/>
          </a:ln>
        </p:spPr>
        <p:txBody>
          <a:bodyPr wrap="square">
            <a:noAutofit/>
          </a:bodyPr>
          <a:lstStyle/>
          <a:p>
            <a:pPr algn="l" latinLnBrk="0">
              <a:spcAft>
                <a:spcPts val="400"/>
              </a:spcAft>
              <a:defRPr sz="3075" b="0">
                <a:solidFill>
                  <a:srgbClr val="212A33"/>
                </a:solidFill>
                <a:latin typeface="Calibri"/>
                <a:ea typeface="Calibri"/>
                <a:cs typeface="Calibri"/>
              </a:defRPr>
            </a:pPr>
            <a:r>
              <a:rPr sz="2400" b="1" dirty="0">
                <a:solidFill>
                  <a:srgbClr val="212A33"/>
                </a:solidFill>
                <a:latin typeface="Calibri"/>
                <a:ea typeface="Calibri"/>
                <a:cs typeface="Calibri"/>
              </a:rPr>
              <a:t>Figure 2. </a:t>
            </a:r>
            <a:r>
              <a:rPr sz="2400" b="0" dirty="0">
                <a:solidFill>
                  <a:srgbClr val="212A33"/>
                </a:solidFill>
                <a:latin typeface="Calibri"/>
                <a:ea typeface="Calibri"/>
                <a:cs typeface="Calibri"/>
              </a:rPr>
              <a:t>FCFS outcomes across all 720 arrival orders vs. VCG (a, b), and Team C's utility for every report (c).</a:t>
            </a:r>
          </a:p>
          <a:p>
            <a:pPr algn="l" latinLnBrk="0">
              <a:spcAft>
                <a:spcPts val="400"/>
              </a:spcAft>
              <a:defRPr sz="3075" b="0">
                <a:solidFill>
                  <a:srgbClr val="212A33"/>
                </a:solidFill>
                <a:latin typeface="Calibri"/>
                <a:ea typeface="Calibri"/>
                <a:cs typeface="Calibri"/>
              </a:defRPr>
            </a:pPr>
            <a:r>
              <a:rPr sz="2400" b="1" dirty="0">
                <a:solidFill>
                  <a:srgbClr val="212A33"/>
                </a:solidFill>
                <a:latin typeface="Calibri"/>
                <a:ea typeface="Calibri"/>
                <a:cs typeface="Calibri"/>
              </a:rPr>
              <a:t>Result: </a:t>
            </a:r>
            <a:r>
              <a:rPr sz="2400" b="0" dirty="0">
                <a:solidFill>
                  <a:srgbClr val="212A33"/>
                </a:solidFill>
                <a:latin typeface="Calibri"/>
                <a:ea typeface="Calibri"/>
                <a:cs typeface="Calibri"/>
              </a:rPr>
              <a:t>VCG picks A, B, D, E (value 30, 21.6 kg CO₂e); no FCFS order beats it, but FCFS serves more teams on average.</a:t>
            </a:r>
          </a:p>
          <a:p>
            <a:pPr algn="l" latinLnBrk="0">
              <a:spcAft>
                <a:spcPts val="400"/>
              </a:spcAft>
              <a:defRPr sz="3075" b="0">
                <a:solidFill>
                  <a:srgbClr val="212A33"/>
                </a:solidFill>
                <a:latin typeface="Calibri"/>
                <a:ea typeface="Calibri"/>
                <a:cs typeface="Calibri"/>
              </a:defRPr>
            </a:pPr>
            <a:r>
              <a:rPr sz="2400" b="1" dirty="0">
                <a:solidFill>
                  <a:srgbClr val="212A33"/>
                </a:solidFill>
                <a:latin typeface="Calibri"/>
                <a:ea typeface="Calibri"/>
                <a:cs typeface="Calibri"/>
              </a:rPr>
              <a:t>Parameter change: </a:t>
            </a:r>
            <a:r>
              <a:rPr sz="2400" b="0" dirty="0">
                <a:solidFill>
                  <a:srgbClr val="212A33"/>
                </a:solidFill>
                <a:latin typeface="Calibri"/>
                <a:ea typeface="Calibri"/>
                <a:cs typeface="Calibri"/>
              </a:rPr>
              <a:t>for λ from 0.1 to 1 the same group wins, the price per winner falls from 5.28 to 0, and truth stays optimal. With two GPU types (H100, A100) the same teams win and emissions fall from 21.6 to 16.6 kg.</a:t>
            </a:r>
          </a:p>
          <a:p>
            <a:pPr algn="l" latinLnBrk="0">
              <a:spcAft>
                <a:spcPts val="400"/>
              </a:spcAft>
              <a:defRPr sz="3075" b="0">
                <a:solidFill>
                  <a:srgbClr val="212A33"/>
                </a:solidFill>
                <a:latin typeface="Calibri"/>
                <a:ea typeface="Calibri"/>
                <a:cs typeface="Calibri"/>
              </a:defRPr>
            </a:pPr>
            <a:r>
              <a:rPr sz="2400" b="1" dirty="0">
                <a:solidFill>
                  <a:srgbClr val="212A33"/>
                </a:solidFill>
                <a:latin typeface="Calibri"/>
                <a:ea typeface="Calibri"/>
                <a:cs typeface="Calibri"/>
              </a:rPr>
              <a:t>Verification: </a:t>
            </a:r>
            <a:r>
              <a:rPr sz="2400" b="0" dirty="0">
                <a:solidFill>
                  <a:srgbClr val="212A33"/>
                </a:solidFill>
                <a:latin typeface="Calibri"/>
                <a:ea typeface="Calibri"/>
                <a:cs typeface="Calibri"/>
              </a:rPr>
              <a:t>python colab/run_simulation.py reproduces the outputs; 7 unit tests pass; notebook 9/9 checks PASS; commit 8a656a4.</a:t>
            </a:r>
          </a:p>
        </p:txBody>
      </p:sp>
      <p:sp>
        <p:nvSpPr>
          <p:cNvPr id="31" name="impact-title">
            <a:extLst>
              <a:ext uri="{FF2B5EF4-FFF2-40B4-BE49-F238E27FC236}">
                <a16:creationId xmlns:a16="http://schemas.microsoft.com/office/drawing/2014/main" id="{7974BDE9-47C8-4976-9EB0-1D99D2AD436D}"/>
              </a:ext>
            </a:extLst>
          </p:cNvPr>
          <p:cNvSpPr>
            <a:spLocks noGrp="1"/>
          </p:cNvSpPr>
          <p:nvPr/>
        </p:nvSpPr>
        <p:spPr>
          <a:xfrm>
            <a:off x="30421500" y="9525000"/>
            <a:ext cx="11049000" cy="809625"/>
          </a:xfrm>
          <a:prstGeom prst="rect">
            <a:avLst/>
          </a:prstGeom>
          <a:noFill/>
          <a:ln w="0">
            <a:noFill/>
            <a:prstDash val="solid"/>
          </a:ln>
        </p:spPr>
        <p:txBody>
          <a:bodyPr>
            <a:noAutofit/>
          </a:bodyPr>
          <a:lstStyle/>
          <a:p>
            <a:pPr algn="l" latinLnBrk="0">
              <a:defRPr sz="4650" b="1">
                <a:solidFill>
                  <a:srgbClr val="003399"/>
                </a:solidFill>
                <a:latin typeface="Calibri"/>
                <a:ea typeface="Calibri"/>
                <a:cs typeface="Calibri"/>
              </a:defRPr>
            </a:pPr>
            <a:r>
              <a:rPr sz="4650" b="1">
                <a:solidFill>
                  <a:srgbClr val="003399"/>
                </a:solidFill>
                <a:latin typeface="Calibri"/>
                <a:ea typeface="Calibri"/>
                <a:cs typeface="Calibri"/>
              </a:rPr>
              <a:t>03   Impact &amp; dialogue</a:t>
            </a:r>
          </a:p>
        </p:txBody>
      </p:sp>
      <p:sp>
        <p:nvSpPr>
          <p:cNvPr id="32" name="impact-title-rule">
            <a:extLst>
              <a:ext uri="{FF2B5EF4-FFF2-40B4-BE49-F238E27FC236}">
                <a16:creationId xmlns:a16="http://schemas.microsoft.com/office/drawing/2014/main" id="{92EF0681-32CB-4E92-B477-91FDD7DB084E}"/>
              </a:ext>
            </a:extLst>
          </p:cNvPr>
          <p:cNvSpPr>
            <a:spLocks noGrp="1"/>
          </p:cNvSpPr>
          <p:nvPr/>
        </p:nvSpPr>
        <p:spPr>
          <a:xfrm>
            <a:off x="30421500" y="10506075"/>
            <a:ext cx="11049000" cy="47625"/>
          </a:xfrm>
          <a:prstGeom prst="rect">
            <a:avLst/>
          </a:prstGeom>
          <a:solidFill>
            <a:srgbClr val="006633"/>
          </a:solidFill>
          <a:ln w="0">
            <a:noFill/>
            <a:prstDash val="solid"/>
          </a:ln>
        </p:spPr>
        <p:txBody>
          <a:bodyPr/>
          <a:lstStyle/>
          <a:p>
            <a:pPr latinLnBrk="0"/>
            <a:endParaRPr lang="en-US"/>
          </a:p>
        </p:txBody>
      </p:sp>
      <p:sp>
        <p:nvSpPr>
          <p:cNvPr id="33" name="real-world-heading">
            <a:extLst>
              <a:ext uri="{FF2B5EF4-FFF2-40B4-BE49-F238E27FC236}">
                <a16:creationId xmlns:a16="http://schemas.microsoft.com/office/drawing/2014/main" id="{8D7A544D-17E0-43AC-A769-0DC992E2E072}"/>
              </a:ext>
            </a:extLst>
          </p:cNvPr>
          <p:cNvSpPr>
            <a:spLocks noGrp="1"/>
          </p:cNvSpPr>
          <p:nvPr/>
        </p:nvSpPr>
        <p:spPr>
          <a:xfrm>
            <a:off x="30421500" y="11146536"/>
            <a:ext cx="11049000" cy="666750"/>
          </a:xfrm>
          <a:prstGeom prst="rect">
            <a:avLst/>
          </a:prstGeom>
          <a:noFill/>
          <a:ln w="0">
            <a:noFill/>
            <a:prstDash val="solid"/>
          </a:ln>
        </p:spPr>
        <p:txBody>
          <a:bodyPr>
            <a:noAutofit/>
          </a:bodyPr>
          <a:lstStyle/>
          <a:p>
            <a:pPr algn="l" latinLnBrk="0">
              <a:defRPr sz="3375" b="1">
                <a:solidFill>
                  <a:srgbClr val="003399"/>
                </a:solidFill>
                <a:latin typeface="Calibri"/>
                <a:ea typeface="Calibri"/>
                <a:cs typeface="Calibri"/>
              </a:defRPr>
            </a:pPr>
            <a:r>
              <a:rPr sz="3375" b="1">
                <a:solidFill>
                  <a:srgbClr val="003399"/>
                </a:solidFill>
                <a:latin typeface="Calibri"/>
                <a:ea typeface="Calibri"/>
                <a:cs typeface="Calibri"/>
              </a:rPr>
              <a:t>Practical impact: a real-world case</a:t>
            </a:r>
          </a:p>
        </p:txBody>
      </p:sp>
      <p:sp>
        <p:nvSpPr>
          <p:cNvPr id="34" name="real-world">
            <a:extLst>
              <a:ext uri="{FF2B5EF4-FFF2-40B4-BE49-F238E27FC236}">
                <a16:creationId xmlns:a16="http://schemas.microsoft.com/office/drawing/2014/main" id="{2199F087-3016-48E4-80F0-4F875A71FCDD}"/>
              </a:ext>
            </a:extLst>
          </p:cNvPr>
          <p:cNvSpPr>
            <a:spLocks noGrp="1"/>
          </p:cNvSpPr>
          <p:nvPr/>
        </p:nvSpPr>
        <p:spPr>
          <a:xfrm>
            <a:off x="30421500" y="11841480"/>
            <a:ext cx="11049000" cy="4297680"/>
          </a:xfrm>
          <a:prstGeom prst="rect">
            <a:avLst/>
          </a:prstGeom>
          <a:noFill/>
          <a:ln w="0">
            <a:noFill/>
            <a:prstDash val="solid"/>
          </a:ln>
        </p:spPr>
        <p:txBody>
          <a:bodyPr wrap="square">
            <a:noAutofit/>
          </a:bodyPr>
          <a:lstStyle/>
          <a:p>
            <a:pPr algn="l" latinLnBrk="0">
              <a:spcAft>
                <a:spcPts val="600"/>
              </a:spcAft>
              <a:defRPr sz="3300" b="0">
                <a:solidFill>
                  <a:srgbClr val="212A33"/>
                </a:solidFill>
                <a:latin typeface="Calibri"/>
                <a:ea typeface="Calibri"/>
                <a:cs typeface="Calibri"/>
              </a:defRPr>
            </a:pPr>
            <a:r>
              <a:rPr sz="2500" b="1" dirty="0">
                <a:solidFill>
                  <a:srgbClr val="212A33"/>
                </a:solidFill>
                <a:latin typeface="Calibri"/>
                <a:ea typeface="Calibri"/>
                <a:cs typeface="Calibri"/>
              </a:rPr>
              <a:t>Case: </a:t>
            </a:r>
            <a:r>
              <a:rPr sz="2500" b="0" dirty="0">
                <a:solidFill>
                  <a:srgbClr val="212A33"/>
                </a:solidFill>
                <a:latin typeface="Calibri"/>
                <a:ea typeface="Calibri"/>
                <a:cs typeface="Calibri"/>
              </a:rPr>
              <a:t>a university's shared GPU cluster replaces queue order with a published, re-runnable rule and a carbon weight λ set by the institution; no adoption yet.</a:t>
            </a:r>
          </a:p>
          <a:p>
            <a:pPr algn="l" latinLnBrk="0">
              <a:spcAft>
                <a:spcPts val="600"/>
              </a:spcAft>
              <a:defRPr sz="3300" b="0">
                <a:solidFill>
                  <a:srgbClr val="212A33"/>
                </a:solidFill>
                <a:latin typeface="Calibri"/>
                <a:ea typeface="Calibri"/>
                <a:cs typeface="Calibri"/>
              </a:defRPr>
            </a:pPr>
            <a:r>
              <a:rPr sz="2500" b="1" dirty="0">
                <a:solidFill>
                  <a:srgbClr val="212A33"/>
                </a:solidFill>
                <a:latin typeface="Calibri"/>
                <a:ea typeface="Calibri"/>
                <a:cs typeface="Calibri"/>
              </a:rPr>
              <a:t>Benefits / risks: </a:t>
            </a:r>
            <a:r>
              <a:rPr sz="2500" b="0" dirty="0">
                <a:solidFill>
                  <a:srgbClr val="212A33"/>
                </a:solidFill>
                <a:latin typeface="Calibri"/>
                <a:ea typeface="Calibri"/>
                <a:cs typeface="Calibri"/>
              </a:rPr>
              <a:t>compute goes to value net of carbon and every allocation is auditable; fewer teams are served, and a heavy λ penalizes compute-heavy research.</a:t>
            </a:r>
          </a:p>
          <a:p>
            <a:pPr algn="l" latinLnBrk="0">
              <a:spcAft>
                <a:spcPts val="600"/>
              </a:spcAft>
              <a:defRPr sz="3300" b="0">
                <a:solidFill>
                  <a:srgbClr val="212A33"/>
                </a:solidFill>
                <a:latin typeface="Calibri"/>
                <a:ea typeface="Calibri"/>
                <a:cs typeface="Calibri"/>
              </a:defRPr>
            </a:pPr>
            <a:r>
              <a:rPr sz="2500" b="1" dirty="0">
                <a:solidFill>
                  <a:srgbClr val="212A33"/>
                </a:solidFill>
                <a:latin typeface="Calibri"/>
                <a:ea typeface="Calibri"/>
                <a:cs typeface="Calibri"/>
              </a:rPr>
              <a:t>Who needs what: </a:t>
            </a:r>
            <a:r>
              <a:rPr sz="2500" b="0" dirty="0">
                <a:solidFill>
                  <a:srgbClr val="212A33"/>
                </a:solidFill>
                <a:latin typeface="Calibri"/>
                <a:ea typeface="Calibri"/>
                <a:cs typeface="Calibri"/>
              </a:rPr>
              <a:t>academia, a transparent pilot; industry, robustness at hundreds of teams; public institutions, a re-runnable audit.</a:t>
            </a:r>
          </a:p>
          <a:p>
            <a:pPr algn="l" latinLnBrk="0">
              <a:spcAft>
                <a:spcPts val="600"/>
              </a:spcAft>
              <a:defRPr sz="3300" b="0">
                <a:solidFill>
                  <a:srgbClr val="212A33"/>
                </a:solidFill>
                <a:latin typeface="Calibri"/>
                <a:ea typeface="Calibri"/>
                <a:cs typeface="Calibri"/>
              </a:defRPr>
            </a:pPr>
            <a:r>
              <a:rPr sz="2500" b="1" dirty="0">
                <a:solidFill>
                  <a:srgbClr val="212A33"/>
                </a:solidFill>
                <a:latin typeface="Calibri"/>
                <a:ea typeface="Calibri"/>
                <a:cs typeface="Calibri"/>
              </a:rPr>
              <a:t>Correction: </a:t>
            </a:r>
            <a:r>
              <a:rPr sz="2500" b="0" dirty="0">
                <a:solidFill>
                  <a:srgbClr val="212A33"/>
                </a:solidFill>
                <a:latin typeface="Calibri"/>
                <a:ea typeface="Calibri"/>
                <a:cs typeface="Calibri"/>
              </a:rPr>
              <a:t>rule, inputs, and code are public, so any team can re-run and challenge an allocation.</a:t>
            </a:r>
          </a:p>
        </p:txBody>
      </p:sp>
      <p:sp>
        <p:nvSpPr>
          <p:cNvPr id="35" name="interdisciplinary-heading">
            <a:extLst>
              <a:ext uri="{FF2B5EF4-FFF2-40B4-BE49-F238E27FC236}">
                <a16:creationId xmlns:a16="http://schemas.microsoft.com/office/drawing/2014/main" id="{1E996ED0-A32A-4617-8E65-E6ED026E62D8}"/>
              </a:ext>
            </a:extLst>
          </p:cNvPr>
          <p:cNvSpPr>
            <a:spLocks noGrp="1"/>
          </p:cNvSpPr>
          <p:nvPr/>
        </p:nvSpPr>
        <p:spPr>
          <a:xfrm>
            <a:off x="30421500" y="16322040"/>
            <a:ext cx="11049000" cy="666750"/>
          </a:xfrm>
          <a:prstGeom prst="rect">
            <a:avLst/>
          </a:prstGeom>
          <a:noFill/>
          <a:ln w="0">
            <a:noFill/>
            <a:prstDash val="solid"/>
          </a:ln>
        </p:spPr>
        <p:txBody>
          <a:bodyPr>
            <a:noAutofit/>
          </a:bodyPr>
          <a:lstStyle/>
          <a:p>
            <a:pPr algn="l" latinLnBrk="0">
              <a:defRPr sz="3375" b="1">
                <a:solidFill>
                  <a:srgbClr val="003399"/>
                </a:solidFill>
                <a:latin typeface="Calibri"/>
                <a:ea typeface="Calibri"/>
                <a:cs typeface="Calibri"/>
              </a:defRPr>
            </a:pPr>
            <a:r>
              <a:rPr sz="3375" b="1">
                <a:solidFill>
                  <a:srgbClr val="003399"/>
                </a:solidFill>
                <a:latin typeface="Calibri"/>
                <a:ea typeface="Calibri"/>
                <a:cs typeface="Calibri"/>
              </a:rPr>
              <a:t>Behavioral evidence: five self-plays (exploratory)</a:t>
            </a:r>
          </a:p>
        </p:txBody>
      </p:sp>
      <p:sp>
        <p:nvSpPr>
          <p:cNvPr id="36" name="interdisciplinary">
            <a:extLst>
              <a:ext uri="{FF2B5EF4-FFF2-40B4-BE49-F238E27FC236}">
                <a16:creationId xmlns:a16="http://schemas.microsoft.com/office/drawing/2014/main" id="{91D1D813-AECB-4965-9667-285D2DDCB3E4}"/>
              </a:ext>
            </a:extLst>
          </p:cNvPr>
          <p:cNvSpPr>
            <a:spLocks noGrp="1"/>
          </p:cNvSpPr>
          <p:nvPr/>
        </p:nvSpPr>
        <p:spPr>
          <a:xfrm>
            <a:off x="30421500" y="19888200"/>
            <a:ext cx="11049000" cy="2743200"/>
          </a:xfrm>
          <a:prstGeom prst="rect">
            <a:avLst/>
          </a:prstGeom>
          <a:noFill/>
          <a:ln w="0">
            <a:noFill/>
            <a:prstDash val="solid"/>
          </a:ln>
        </p:spPr>
        <p:txBody>
          <a:bodyPr wrap="square">
            <a:noAutofit/>
          </a:bodyPr>
          <a:lstStyle/>
          <a:p>
            <a:pPr algn="l" latinLnBrk="0">
              <a:spcAft>
                <a:spcPts val="600"/>
              </a:spcAft>
              <a:defRPr sz="3225" b="0">
                <a:solidFill>
                  <a:srgbClr val="212A33"/>
                </a:solidFill>
                <a:latin typeface="Calibri"/>
                <a:ea typeface="Calibri"/>
                <a:cs typeface="Calibri"/>
              </a:defRPr>
            </a:pPr>
            <a:r>
              <a:rPr sz="2500" b="1" dirty="0">
                <a:solidFill>
                  <a:srgbClr val="212A33"/>
                </a:solidFill>
                <a:latin typeface="Calibri"/>
                <a:ea typeface="Calibri"/>
                <a:cs typeface="Calibri"/>
              </a:rPr>
              <a:t>Agreement: </a:t>
            </a:r>
            <a:r>
              <a:rPr sz="2500" b="0" dirty="0">
                <a:solidFill>
                  <a:srgbClr val="212A33"/>
                </a:solidFill>
                <a:latin typeface="Calibri"/>
                <a:ea typeface="Calibri"/>
                <a:cs typeface="Calibri"/>
              </a:rPr>
              <a:t>no misreport paid off; one overreport bought a seat for 36 credits and ended at u = −3.6.</a:t>
            </a:r>
          </a:p>
          <a:p>
            <a:pPr algn="l" latinLnBrk="0">
              <a:spcAft>
                <a:spcPts val="600"/>
              </a:spcAft>
              <a:defRPr sz="3225" b="0">
                <a:solidFill>
                  <a:srgbClr val="212A33"/>
                </a:solidFill>
                <a:latin typeface="Calibri"/>
                <a:ea typeface="Calibri"/>
                <a:cs typeface="Calibri"/>
              </a:defRPr>
            </a:pPr>
            <a:r>
              <a:rPr sz="2500" b="1" dirty="0">
                <a:solidFill>
                  <a:srgbClr val="212A33"/>
                </a:solidFill>
                <a:latin typeface="Calibri"/>
                <a:ea typeface="Calibri"/>
                <a:cs typeface="Calibri"/>
              </a:rPr>
              <a:t>Gap: </a:t>
            </a:r>
            <a:r>
              <a:rPr sz="2500" b="0" dirty="0">
                <a:solidFill>
                  <a:srgbClr val="212A33"/>
                </a:solidFill>
                <a:latin typeface="Calibri"/>
                <a:ea typeface="Calibri"/>
                <a:cs typeface="Calibri"/>
              </a:rPr>
              <a:t>three of five players overreported. Stated reasons: wanting to be selected, and misunderstanding the rule.</a:t>
            </a:r>
          </a:p>
          <a:p>
            <a:pPr algn="l" latinLnBrk="0">
              <a:spcAft>
                <a:spcPts val="600"/>
              </a:spcAft>
              <a:defRPr sz="3225" b="0">
                <a:solidFill>
                  <a:srgbClr val="212A33"/>
                </a:solidFill>
                <a:latin typeface="Calibri"/>
                <a:ea typeface="Calibri"/>
                <a:cs typeface="Calibri"/>
              </a:defRPr>
            </a:pPr>
            <a:r>
              <a:rPr sz="2500" b="1" dirty="0">
                <a:solidFill>
                  <a:srgbClr val="212A33"/>
                </a:solidFill>
                <a:latin typeface="Calibri"/>
                <a:ea typeface="Calibri"/>
                <a:cs typeface="Calibri"/>
              </a:rPr>
              <a:t>Integration: </a:t>
            </a:r>
            <a:r>
              <a:rPr sz="2500" b="0" dirty="0">
                <a:solidFill>
                  <a:srgbClr val="212A33"/>
                </a:solidFill>
                <a:latin typeface="Calibri"/>
                <a:ea typeface="Calibri"/>
                <a:cs typeface="Calibri"/>
              </a:rPr>
              <a:t>the Space's what-if curve exposed that utility vᵢ − pᵢ rewards overreporting; each team now bears its own carbon.</a:t>
            </a:r>
          </a:p>
        </p:txBody>
      </p:sp>
      <p:sp>
        <p:nvSpPr>
          <p:cNvPr id="37" name="limits-heading">
            <a:extLst>
              <a:ext uri="{FF2B5EF4-FFF2-40B4-BE49-F238E27FC236}">
                <a16:creationId xmlns:a16="http://schemas.microsoft.com/office/drawing/2014/main" id="{68ADFBED-634F-4EFD-A437-EF921500A3B3}"/>
              </a:ext>
            </a:extLst>
          </p:cNvPr>
          <p:cNvSpPr>
            <a:spLocks noGrp="1"/>
          </p:cNvSpPr>
          <p:nvPr/>
        </p:nvSpPr>
        <p:spPr>
          <a:xfrm>
            <a:off x="30421500" y="23042880"/>
            <a:ext cx="11049000" cy="666750"/>
          </a:xfrm>
          <a:prstGeom prst="rect">
            <a:avLst/>
          </a:prstGeom>
          <a:noFill/>
          <a:ln w="0">
            <a:noFill/>
            <a:prstDash val="solid"/>
          </a:ln>
        </p:spPr>
        <p:txBody>
          <a:bodyPr>
            <a:noAutofit/>
          </a:bodyPr>
          <a:lstStyle/>
          <a:p>
            <a:pPr algn="l" latinLnBrk="0">
              <a:defRPr sz="3375" b="1">
                <a:solidFill>
                  <a:srgbClr val="003399"/>
                </a:solidFill>
                <a:latin typeface="Calibri"/>
                <a:ea typeface="Calibri"/>
                <a:cs typeface="Calibri"/>
              </a:defRPr>
            </a:pPr>
            <a:r>
              <a:rPr sz="3375" b="1">
                <a:solidFill>
                  <a:srgbClr val="003399"/>
                </a:solidFill>
                <a:latin typeface="Calibri"/>
                <a:ea typeface="Calibri"/>
                <a:cs typeface="Calibri"/>
              </a:rPr>
              <a:t>Peer review, limits &amp; next test</a:t>
            </a:r>
          </a:p>
        </p:txBody>
      </p:sp>
      <p:sp>
        <p:nvSpPr>
          <p:cNvPr id="38" name="limits">
            <a:extLst>
              <a:ext uri="{FF2B5EF4-FFF2-40B4-BE49-F238E27FC236}">
                <a16:creationId xmlns:a16="http://schemas.microsoft.com/office/drawing/2014/main" id="{B297720D-E873-4F17-88AF-AF30E5F69FD6}"/>
              </a:ext>
            </a:extLst>
          </p:cNvPr>
          <p:cNvSpPr>
            <a:spLocks noGrp="1"/>
          </p:cNvSpPr>
          <p:nvPr/>
        </p:nvSpPr>
        <p:spPr>
          <a:xfrm>
            <a:off x="30421500" y="23728680"/>
            <a:ext cx="11049000" cy="3703320"/>
          </a:xfrm>
          <a:prstGeom prst="rect">
            <a:avLst/>
          </a:prstGeom>
          <a:noFill/>
          <a:ln w="0">
            <a:noFill/>
            <a:prstDash val="solid"/>
          </a:ln>
        </p:spPr>
        <p:txBody>
          <a:bodyPr wrap="square">
            <a:noAutofit/>
          </a:bodyPr>
          <a:lstStyle/>
          <a:p>
            <a:pPr algn="l" latinLnBrk="0">
              <a:spcAft>
                <a:spcPts val="600"/>
              </a:spcAft>
              <a:defRPr sz="3225" b="0">
                <a:solidFill>
                  <a:srgbClr val="212A33"/>
                </a:solidFill>
                <a:latin typeface="Calibri"/>
                <a:ea typeface="Calibri"/>
                <a:cs typeface="Calibri"/>
              </a:defRPr>
            </a:pPr>
            <a:r>
              <a:rPr sz="2500" b="1" dirty="0">
                <a:solidFill>
                  <a:srgbClr val="212A33"/>
                </a:solidFill>
                <a:latin typeface="Calibri"/>
                <a:ea typeface="Calibri"/>
                <a:cs typeface="Calibri"/>
              </a:rPr>
              <a:t>Why λ = 0.5? </a:t>
            </a:r>
            <a:r>
              <a:rPr sz="2500" b="0" dirty="0">
                <a:solidFill>
                  <a:srgbClr val="212A33"/>
                </a:solidFill>
                <a:latin typeface="Calibri"/>
                <a:ea typeface="Calibri"/>
                <a:cs typeface="Calibri"/>
              </a:rPr>
              <a:t>Sweep 0 to 1: prices change, the best strategy does not.</a:t>
            </a:r>
          </a:p>
          <a:p>
            <a:pPr algn="l" latinLnBrk="0">
              <a:spcAft>
                <a:spcPts val="600"/>
              </a:spcAft>
              <a:defRPr sz="3225" b="0">
                <a:solidFill>
                  <a:srgbClr val="212A33"/>
                </a:solidFill>
                <a:latin typeface="Calibri"/>
                <a:ea typeface="Calibri"/>
                <a:cs typeface="Calibri"/>
              </a:defRPr>
            </a:pPr>
            <a:r>
              <a:rPr sz="2500" b="1" dirty="0">
                <a:solidFill>
                  <a:srgbClr val="212A33"/>
                </a:solidFill>
                <a:latin typeface="Calibri"/>
                <a:ea typeface="Calibri"/>
                <a:cs typeface="Calibri"/>
              </a:rPr>
              <a:t>One GPU type? </a:t>
            </a:r>
            <a:r>
              <a:rPr sz="2500" b="0" dirty="0">
                <a:solidFill>
                  <a:srgbClr val="212A33"/>
                </a:solidFill>
                <a:latin typeface="Calibri"/>
                <a:ea typeface="Calibri"/>
                <a:cs typeface="Calibri"/>
              </a:rPr>
              <a:t>Two-pool extension: same winners, emissions −23%.</a:t>
            </a:r>
          </a:p>
          <a:p>
            <a:pPr algn="l" latinLnBrk="0">
              <a:spcAft>
                <a:spcPts val="600"/>
              </a:spcAft>
              <a:defRPr sz="3225" b="0">
                <a:solidFill>
                  <a:srgbClr val="212A33"/>
                </a:solidFill>
                <a:latin typeface="Calibri"/>
                <a:ea typeface="Calibri"/>
                <a:cs typeface="Calibri"/>
              </a:defRPr>
            </a:pPr>
            <a:r>
              <a:rPr sz="2500" b="1" dirty="0">
                <a:solidFill>
                  <a:srgbClr val="212A33"/>
                </a:solidFill>
                <a:latin typeface="Calibri"/>
                <a:ea typeface="Calibri"/>
                <a:cs typeface="Calibri"/>
              </a:rPr>
              <a:t>No play data? </a:t>
            </a:r>
            <a:r>
              <a:rPr sz="2500" b="0" dirty="0">
                <a:solidFill>
                  <a:srgbClr val="212A33"/>
                </a:solidFill>
                <a:latin typeface="Calibri"/>
                <a:ea typeface="Calibri"/>
                <a:cs typeface="Calibri"/>
              </a:rPr>
              <a:t>Five recorded self-plays by the authors.</a:t>
            </a:r>
          </a:p>
          <a:p>
            <a:pPr algn="l" latinLnBrk="0">
              <a:spcAft>
                <a:spcPts val="600"/>
              </a:spcAft>
              <a:defRPr sz="3225" b="0">
                <a:solidFill>
                  <a:srgbClr val="212A33"/>
                </a:solidFill>
                <a:latin typeface="Calibri"/>
                <a:ea typeface="Calibri"/>
                <a:cs typeface="Calibri"/>
              </a:defRPr>
            </a:pPr>
            <a:r>
              <a:rPr sz="2500" b="1" dirty="0">
                <a:solidFill>
                  <a:srgbClr val="212A33"/>
                </a:solidFill>
                <a:latin typeface="Calibri"/>
                <a:ea typeface="Calibri"/>
                <a:cs typeface="Calibri"/>
              </a:rPr>
              <a:t>One instance? </a:t>
            </a:r>
            <a:r>
              <a:rPr sz="2500" b="0" dirty="0">
                <a:solidFill>
                  <a:srgbClr val="212A33"/>
                </a:solidFill>
                <a:latin typeface="Calibri"/>
                <a:ea typeface="Calibri"/>
                <a:cs typeface="Calibri"/>
              </a:rPr>
              <a:t>Truth also holds on 100 random instances; the FCFS comparison over random draws is next.</a:t>
            </a:r>
          </a:p>
          <a:p>
            <a:pPr algn="l" latinLnBrk="0">
              <a:spcAft>
                <a:spcPts val="600"/>
              </a:spcAft>
              <a:defRPr sz="3225" b="0">
                <a:solidFill>
                  <a:srgbClr val="212A33"/>
                </a:solidFill>
                <a:latin typeface="Calibri"/>
                <a:ea typeface="Calibri"/>
                <a:cs typeface="Calibri"/>
              </a:defRPr>
            </a:pPr>
            <a:r>
              <a:rPr sz="2500" b="1" dirty="0">
                <a:solidFill>
                  <a:srgbClr val="212A33"/>
                </a:solidFill>
                <a:latin typeface="Calibri"/>
                <a:ea typeface="Calibri"/>
                <a:cs typeface="Calibri"/>
              </a:rPr>
              <a:t>Limits: </a:t>
            </a:r>
            <a:r>
              <a:rPr sz="2500" b="0" dirty="0">
                <a:solidFill>
                  <a:srgbClr val="212A33"/>
                </a:solidFill>
                <a:latin typeface="Calibri"/>
                <a:ea typeface="Calibri"/>
                <a:cs typeface="Calibri"/>
              </a:rPr>
              <a:t>λ and 0.24 kg/GPU-h are assumptions; true values cannot be verified; authors played against simulated rivals.</a:t>
            </a:r>
          </a:p>
        </p:txBody>
      </p:sp>
      <p:sp>
        <p:nvSpPr>
          <p:cNvPr id="40" name="footer-rule">
            <a:extLst>
              <a:ext uri="{FF2B5EF4-FFF2-40B4-BE49-F238E27FC236}">
                <a16:creationId xmlns:a16="http://schemas.microsoft.com/office/drawing/2014/main" id="{24CE48EC-E121-4C2A-81BE-8C70F6F42833}"/>
              </a:ext>
            </a:extLst>
          </p:cNvPr>
          <p:cNvSpPr>
            <a:spLocks noGrp="1"/>
          </p:cNvSpPr>
          <p:nvPr/>
        </p:nvSpPr>
        <p:spPr>
          <a:xfrm>
            <a:off x="1333500" y="27527250"/>
            <a:ext cx="40137000" cy="47625"/>
          </a:xfrm>
          <a:prstGeom prst="rect">
            <a:avLst/>
          </a:prstGeom>
          <a:solidFill>
            <a:srgbClr val="006633"/>
          </a:solidFill>
          <a:ln w="0">
            <a:noFill/>
            <a:prstDash val="solid"/>
          </a:ln>
        </p:spPr>
        <p:txBody>
          <a:bodyPr/>
          <a:lstStyle/>
          <a:p>
            <a:pPr latinLnBrk="0"/>
            <a:endParaRPr lang="en-US"/>
          </a:p>
        </p:txBody>
      </p:sp>
      <p:sp>
        <p:nvSpPr>
          <p:cNvPr id="41" name="ack-heading">
            <a:extLst>
              <a:ext uri="{FF2B5EF4-FFF2-40B4-BE49-F238E27FC236}">
                <a16:creationId xmlns:a16="http://schemas.microsoft.com/office/drawing/2014/main" id="{CC1B0A45-EEBC-4636-8C8B-F880435533DE}"/>
              </a:ext>
            </a:extLst>
          </p:cNvPr>
          <p:cNvSpPr>
            <a:spLocks noGrp="1"/>
          </p:cNvSpPr>
          <p:nvPr/>
        </p:nvSpPr>
        <p:spPr>
          <a:xfrm>
            <a:off x="1333500" y="27813000"/>
            <a:ext cx="11049000" cy="666750"/>
          </a:xfrm>
          <a:prstGeom prst="rect">
            <a:avLst/>
          </a:prstGeom>
          <a:noFill/>
          <a:ln w="0">
            <a:noFill/>
            <a:prstDash val="solid"/>
          </a:ln>
        </p:spPr>
        <p:txBody>
          <a:bodyPr>
            <a:noAutofit/>
          </a:bodyPr>
          <a:lstStyle/>
          <a:p>
            <a:pPr algn="l" latinLnBrk="0">
              <a:defRPr sz="3375" b="1">
                <a:solidFill>
                  <a:srgbClr val="003399"/>
                </a:solidFill>
                <a:latin typeface="Calibri"/>
                <a:ea typeface="Calibri"/>
                <a:cs typeface="Calibri"/>
              </a:defRPr>
            </a:pPr>
            <a:r>
              <a:rPr sz="3375" b="1">
                <a:solidFill>
                  <a:srgbClr val="003399"/>
                </a:solidFill>
                <a:latin typeface="Calibri"/>
                <a:ea typeface="Calibri"/>
                <a:cs typeface="Calibri"/>
              </a:rPr>
              <a:t>Acknowledgments</a:t>
            </a:r>
          </a:p>
        </p:txBody>
      </p:sp>
      <p:sp>
        <p:nvSpPr>
          <p:cNvPr id="42" name="ack">
            <a:extLst>
              <a:ext uri="{FF2B5EF4-FFF2-40B4-BE49-F238E27FC236}">
                <a16:creationId xmlns:a16="http://schemas.microsoft.com/office/drawing/2014/main" id="{1C589FA2-42B8-4C7A-9C87-A446B7866781}"/>
              </a:ext>
            </a:extLst>
          </p:cNvPr>
          <p:cNvSpPr>
            <a:spLocks noGrp="1"/>
          </p:cNvSpPr>
          <p:nvPr/>
        </p:nvSpPr>
        <p:spPr>
          <a:xfrm>
            <a:off x="1333500" y="28479750"/>
            <a:ext cx="11049000" cy="1285875"/>
          </a:xfrm>
          <a:prstGeom prst="rect">
            <a:avLst/>
          </a:prstGeom>
          <a:noFill/>
          <a:ln w="0">
            <a:noFill/>
            <a:prstDash val="solid"/>
          </a:ln>
        </p:spPr>
        <p:txBody>
          <a:bodyPr wrap="square">
            <a:noAutofit/>
          </a:bodyPr>
          <a:lstStyle/>
          <a:p>
            <a:pPr algn="l" latinLnBrk="0">
              <a:defRPr sz="2400" b="0">
                <a:solidFill>
                  <a:srgbClr val="212A33"/>
                </a:solidFill>
                <a:latin typeface="Calibri"/>
                <a:ea typeface="Calibri"/>
                <a:cs typeface="Calibri"/>
              </a:defRPr>
            </a:pPr>
            <a:r>
              <a:rPr sz="1700" b="0" dirty="0">
                <a:solidFill>
                  <a:srgbClr val="212A33"/>
                </a:solidFill>
                <a:latin typeface="Calibri"/>
                <a:ea typeface="Calibri"/>
                <a:cs typeface="Calibri"/>
              </a:rPr>
              <a:t>Instructor: Professor Luyao Zhang. Symposium reviewers: Y. Wu, Z. Zhou, Z. Wang, X. Sun, Y. Liu, A. Wang, M. Chen. Software: Python, Jupyter and Google Colab, matplotlib, Hugging Face Spaces. AI: Claude Code (Claude Opus 5.5) assisted the Space, notebook, tests, figures, and revision drafts; the authors are responsible for all content.</a:t>
            </a:r>
          </a:p>
        </p:txBody>
      </p:sp>
      <p:sp>
        <p:nvSpPr>
          <p:cNvPr id="43" name="references-heading">
            <a:extLst>
              <a:ext uri="{FF2B5EF4-FFF2-40B4-BE49-F238E27FC236}">
                <a16:creationId xmlns:a16="http://schemas.microsoft.com/office/drawing/2014/main" id="{E7EA3AAE-744F-4F03-A737-D3056A093795}"/>
              </a:ext>
            </a:extLst>
          </p:cNvPr>
          <p:cNvSpPr>
            <a:spLocks noGrp="1"/>
          </p:cNvSpPr>
          <p:nvPr/>
        </p:nvSpPr>
        <p:spPr>
          <a:xfrm>
            <a:off x="13335000" y="27813000"/>
            <a:ext cx="14192250" cy="666750"/>
          </a:xfrm>
          <a:prstGeom prst="rect">
            <a:avLst/>
          </a:prstGeom>
          <a:noFill/>
          <a:ln w="0">
            <a:noFill/>
            <a:prstDash val="solid"/>
          </a:ln>
        </p:spPr>
        <p:txBody>
          <a:bodyPr>
            <a:noAutofit/>
          </a:bodyPr>
          <a:lstStyle/>
          <a:p>
            <a:pPr algn="l" latinLnBrk="0">
              <a:defRPr sz="3375" b="1">
                <a:solidFill>
                  <a:srgbClr val="003399"/>
                </a:solidFill>
                <a:latin typeface="Calibri"/>
                <a:ea typeface="Calibri"/>
                <a:cs typeface="Calibri"/>
              </a:defRPr>
            </a:pPr>
            <a:r>
              <a:rPr sz="3375" b="1">
                <a:solidFill>
                  <a:srgbClr val="003399"/>
                </a:solidFill>
                <a:latin typeface="Calibri"/>
                <a:ea typeface="Calibri"/>
                <a:cs typeface="Calibri"/>
              </a:rPr>
              <a:t>Selected references</a:t>
            </a:r>
          </a:p>
        </p:txBody>
      </p:sp>
      <p:sp>
        <p:nvSpPr>
          <p:cNvPr id="44" name="references">
            <a:extLst>
              <a:ext uri="{FF2B5EF4-FFF2-40B4-BE49-F238E27FC236}">
                <a16:creationId xmlns:a16="http://schemas.microsoft.com/office/drawing/2014/main" id="{0ECEF328-5F03-4179-A929-2458DB1F400F}"/>
              </a:ext>
            </a:extLst>
          </p:cNvPr>
          <p:cNvSpPr>
            <a:spLocks noGrp="1"/>
          </p:cNvSpPr>
          <p:nvPr/>
        </p:nvSpPr>
        <p:spPr>
          <a:xfrm>
            <a:off x="13335000" y="28479750"/>
            <a:ext cx="14192250" cy="1285875"/>
          </a:xfrm>
          <a:prstGeom prst="rect">
            <a:avLst/>
          </a:prstGeom>
          <a:noFill/>
          <a:ln w="0">
            <a:noFill/>
            <a:prstDash val="solid"/>
          </a:ln>
        </p:spPr>
        <p:txBody>
          <a:bodyPr wrap="square">
            <a:noAutofit/>
          </a:bodyPr>
          <a:lstStyle/>
          <a:p>
            <a:pPr algn="l" latinLnBrk="0">
              <a:defRPr sz="2400" b="0">
                <a:solidFill>
                  <a:srgbClr val="212A33"/>
                </a:solidFill>
                <a:latin typeface="Calibri"/>
                <a:ea typeface="Calibri"/>
                <a:cs typeface="Calibri"/>
              </a:defRPr>
            </a:pPr>
            <a:r>
              <a:rPr sz="1500" b="0">
                <a:solidFill>
                  <a:srgbClr val="212A33"/>
                </a:solidFill>
                <a:latin typeface="Calibri"/>
                <a:ea typeface="Calibri"/>
                <a:cs typeface="Calibri"/>
              </a:rPr>
              <a:t>[1] Vickrey, W. (1961). Counterspeculation, auctions, and competitive sealed tenders. J. Finance 16(1), 8–37. doi:10.1111/j.1540-6261.1961.tb02789.x</a:t>
            </a:r>
          </a:p>
          <a:p>
            <a:pPr algn="l" latinLnBrk="0">
              <a:defRPr sz="2400" b="0">
                <a:solidFill>
                  <a:srgbClr val="212A33"/>
                </a:solidFill>
                <a:latin typeface="Calibri"/>
                <a:ea typeface="Calibri"/>
                <a:cs typeface="Calibri"/>
              </a:defRPr>
            </a:pPr>
            <a:r>
              <a:rPr sz="1500" b="0">
                <a:solidFill>
                  <a:srgbClr val="212A33"/>
                </a:solidFill>
                <a:latin typeface="Calibri"/>
                <a:ea typeface="Calibri"/>
                <a:cs typeface="Calibri"/>
              </a:rPr>
              <a:t>[2] Clarke, E. H. (1971). Multipart pricing of public goods. Public Choice 11, 17–33. doi:10.1007/BF01726210</a:t>
            </a:r>
          </a:p>
          <a:p>
            <a:pPr algn="l" latinLnBrk="0">
              <a:defRPr sz="2400" b="0">
                <a:solidFill>
                  <a:srgbClr val="212A33"/>
                </a:solidFill>
                <a:latin typeface="Calibri"/>
                <a:ea typeface="Calibri"/>
                <a:cs typeface="Calibri"/>
              </a:defRPr>
            </a:pPr>
            <a:r>
              <a:rPr sz="1500" b="0">
                <a:solidFill>
                  <a:srgbClr val="212A33"/>
                </a:solidFill>
                <a:latin typeface="Calibri"/>
                <a:ea typeface="Calibri"/>
                <a:cs typeface="Calibri"/>
              </a:rPr>
              <a:t>[3] Groves, T. (1973). Incentives in teams. Econometrica 41(4), 617–631. doi:10.2307/1914085</a:t>
            </a:r>
          </a:p>
          <a:p>
            <a:pPr algn="l" latinLnBrk="0">
              <a:defRPr sz="2400" b="0">
                <a:solidFill>
                  <a:srgbClr val="212A33"/>
                </a:solidFill>
                <a:latin typeface="Calibri"/>
                <a:ea typeface="Calibri"/>
                <a:cs typeface="Calibri"/>
              </a:defRPr>
            </a:pPr>
            <a:r>
              <a:rPr sz="1500" b="0">
                <a:solidFill>
                  <a:srgbClr val="212A33"/>
                </a:solidFill>
                <a:latin typeface="Calibri"/>
                <a:ea typeface="Calibri"/>
                <a:cs typeface="Calibri"/>
              </a:rPr>
              <a:t>[4] Harsanyi, J. C. (1968). Games with incomplete information played by Bayesian players, II. Mgmt. Sci. 14(5), 320–334. doi:10.1287/mnsc.14.5.320</a:t>
            </a:r>
          </a:p>
          <a:p>
            <a:pPr algn="l" latinLnBrk="0">
              <a:defRPr sz="2400" b="0">
                <a:solidFill>
                  <a:srgbClr val="212A33"/>
                </a:solidFill>
                <a:latin typeface="Calibri"/>
                <a:ea typeface="Calibri"/>
                <a:cs typeface="Calibri"/>
              </a:defRPr>
            </a:pPr>
            <a:r>
              <a:rPr sz="1500" b="0">
                <a:solidFill>
                  <a:srgbClr val="212A33"/>
                </a:solidFill>
                <a:latin typeface="Calibri"/>
                <a:ea typeface="Calibri"/>
                <a:cs typeface="Calibri"/>
              </a:rPr>
              <a:t>[5] Zachariadis, K. E., et al. (2026). FAIR-Compute: A roadmap for fair and efficient allocation of federated digital research infrastructure. arXiv:2607.28290</a:t>
            </a:r>
          </a:p>
        </p:txBody>
      </p:sp>
      <p:sp>
        <p:nvSpPr>
          <p:cNvPr id="45" name="access-heading">
            <a:extLst>
              <a:ext uri="{FF2B5EF4-FFF2-40B4-BE49-F238E27FC236}">
                <a16:creationId xmlns:a16="http://schemas.microsoft.com/office/drawing/2014/main" id="{49F540C3-5DD7-4CE8-9BCD-20A72A498083}"/>
              </a:ext>
            </a:extLst>
          </p:cNvPr>
          <p:cNvSpPr>
            <a:spLocks noGrp="1"/>
          </p:cNvSpPr>
          <p:nvPr/>
        </p:nvSpPr>
        <p:spPr>
          <a:xfrm>
            <a:off x="30421500" y="27813000"/>
            <a:ext cx="11049000" cy="476250"/>
          </a:xfrm>
          <a:prstGeom prst="rect">
            <a:avLst/>
          </a:prstGeom>
          <a:noFill/>
          <a:ln w="0">
            <a:noFill/>
            <a:prstDash val="solid"/>
          </a:ln>
        </p:spPr>
        <p:txBody>
          <a:bodyPr>
            <a:noAutofit/>
          </a:bodyPr>
          <a:lstStyle/>
          <a:p>
            <a:pPr algn="l" latinLnBrk="0">
              <a:defRPr sz="2400" b="1">
                <a:solidFill>
                  <a:srgbClr val="003399"/>
                </a:solidFill>
                <a:latin typeface="Calibri"/>
                <a:ea typeface="Calibri"/>
                <a:cs typeface="Calibri"/>
              </a:defRPr>
            </a:pPr>
            <a:r>
              <a:rPr sz="2400" b="1">
                <a:solidFill>
                  <a:srgbClr val="003399"/>
                </a:solidFill>
                <a:latin typeface="Calibri"/>
                <a:ea typeface="Calibri"/>
                <a:cs typeface="Calibri"/>
              </a:rPr>
              <a:t>OPEN MATERIALS</a:t>
            </a:r>
          </a:p>
        </p:txBody>
      </p:sp>
      <p:sp>
        <p:nvSpPr>
          <p:cNvPr id="46" name="access-links">
            <a:extLst>
              <a:ext uri="{FF2B5EF4-FFF2-40B4-BE49-F238E27FC236}">
                <a16:creationId xmlns:a16="http://schemas.microsoft.com/office/drawing/2014/main" id="{35C264DA-792D-48F7-AE3C-F21A5E9ADD8F}"/>
              </a:ext>
            </a:extLst>
          </p:cNvPr>
          <p:cNvSpPr>
            <a:spLocks noGrp="1"/>
          </p:cNvSpPr>
          <p:nvPr/>
        </p:nvSpPr>
        <p:spPr>
          <a:xfrm>
            <a:off x="30421500" y="28384500"/>
            <a:ext cx="8096250" cy="1325880"/>
          </a:xfrm>
          <a:prstGeom prst="rect">
            <a:avLst/>
          </a:prstGeom>
          <a:noFill/>
          <a:ln w="0">
            <a:noFill/>
            <a:prstDash val="solid"/>
          </a:ln>
        </p:spPr>
        <p:txBody>
          <a:bodyPr wrap="square">
            <a:noAutofit/>
          </a:bodyPr>
          <a:lstStyle/>
          <a:p>
            <a:pPr algn="l" latinLnBrk="0">
              <a:defRPr sz="2325" b="0">
                <a:solidFill>
                  <a:srgbClr val="212A33"/>
                </a:solidFill>
                <a:latin typeface="Calibri"/>
                <a:ea typeface="Calibri"/>
                <a:cs typeface="Calibri"/>
              </a:defRPr>
            </a:pPr>
            <a:r>
              <a:rPr sz="1500" b="0">
                <a:solidFill>
                  <a:srgbClr val="212A33"/>
                </a:solidFill>
                <a:latin typeface="Calibri"/>
                <a:ea typeface="Calibri"/>
                <a:cs typeface="Calibri"/>
                <a:hlinkClick r:id="rId4"/>
              </a:rPr>
              <a:t>Hugging Face: https://huggingface.co/spaces/dku-comsci-econ206-2026/PS2_Team_A</a:t>
            </a:r>
          </a:p>
          <a:p>
            <a:pPr algn="l" latinLnBrk="0">
              <a:defRPr sz="2325" b="0">
                <a:solidFill>
                  <a:srgbClr val="212A33"/>
                </a:solidFill>
                <a:latin typeface="Calibri"/>
                <a:ea typeface="Calibri"/>
                <a:cs typeface="Calibri"/>
              </a:defRPr>
            </a:pPr>
            <a:r>
              <a:rPr sz="1500" b="0">
                <a:solidFill>
                  <a:srgbClr val="212A33"/>
                </a:solidFill>
                <a:latin typeface="Calibri"/>
                <a:ea typeface="Calibri"/>
                <a:cs typeface="Calibri"/>
                <a:hlinkClick r:id="rId4"/>
              </a:rPr>
              <a:t>GitHub: https://github.com/dku-comsci-econ206-Autumn2026/FP05-PS2-Team-A (commit 8a656a4)</a:t>
            </a:r>
          </a:p>
          <a:p>
            <a:pPr algn="l" latinLnBrk="0">
              <a:defRPr sz="2325" b="0">
                <a:solidFill>
                  <a:srgbClr val="212A33"/>
                </a:solidFill>
                <a:latin typeface="Calibri"/>
                <a:ea typeface="Calibri"/>
                <a:cs typeface="Calibri"/>
              </a:defRPr>
            </a:pPr>
            <a:r>
              <a:rPr sz="1500" b="0">
                <a:solidFill>
                  <a:srgbClr val="212A33"/>
                </a:solidFill>
                <a:latin typeface="Calibri"/>
                <a:ea typeface="Calibri"/>
                <a:cs typeface="Calibri"/>
                <a:hlinkClick r:id="rId4"/>
              </a:rPr>
              <a:t>Colab: https://colab.research.google.com/drive/14eo8a2HWUbbBtv-m-ia4xRiL4V6Iwtun</a:t>
            </a:r>
          </a:p>
        </p:txBody>
      </p:sp>
      <p:sp>
        <p:nvSpPr>
          <p:cNvPr id="51" name="format-note">
            <a:extLst>
              <a:ext uri="{FF2B5EF4-FFF2-40B4-BE49-F238E27FC236}">
                <a16:creationId xmlns:a16="http://schemas.microsoft.com/office/drawing/2014/main" id="{49DEC60E-E378-41A7-B1C9-EC4712C55A58}"/>
              </a:ext>
            </a:extLst>
          </p:cNvPr>
          <p:cNvSpPr>
            <a:spLocks noGrp="1"/>
          </p:cNvSpPr>
          <p:nvPr/>
        </p:nvSpPr>
        <p:spPr>
          <a:xfrm>
            <a:off x="35254071" y="27869878"/>
            <a:ext cx="6527357" cy="476250"/>
          </a:xfrm>
          <a:prstGeom prst="rect">
            <a:avLst/>
          </a:prstGeom>
          <a:noFill/>
          <a:ln w="0">
            <a:noFill/>
            <a:prstDash val="solid"/>
          </a:ln>
        </p:spPr>
        <p:txBody>
          <a:bodyPr wrap="square">
            <a:noAutofit/>
          </a:bodyPr>
          <a:lstStyle/>
          <a:p>
            <a:pPr algn="l" latinLnBrk="0">
              <a:defRPr sz="1950" b="0">
                <a:solidFill>
                  <a:srgbClr val="56616B"/>
                </a:solidFill>
                <a:latin typeface="Calibri"/>
                <a:ea typeface="Calibri"/>
                <a:cs typeface="Calibri"/>
              </a:defRPr>
            </a:pPr>
            <a:r>
              <a:rPr sz="1950" b="0">
                <a:solidFill>
                  <a:srgbClr val="56616B"/>
                </a:solidFill>
                <a:latin typeface="Calibri"/>
                <a:ea typeface="Calibri"/>
                <a:cs typeface="Calibri"/>
              </a:rPr>
              <a:t>QR codes: left Hugging Face Space, right GitHub repository.</a:t>
            </a:r>
          </a:p>
        </p:txBody>
      </p:sp>
      <p:pic>
        <p:nvPicPr>
          <p:cNvPr id="68" name="main-result-figure" descr="fig2.png"/>
          <p:cNvPicPr>
            <a:picLocks noChangeAspect="1"/>
          </p:cNvPicPr>
          <p:nvPr/>
        </p:nvPicPr>
        <p:blipFill>
          <a:blip r:embed="rId5"/>
          <a:stretch>
            <a:fillRect/>
          </a:stretch>
        </p:blipFill>
        <p:spPr>
          <a:xfrm>
            <a:off x="13517880" y="17794986"/>
            <a:ext cx="15768240" cy="5958928"/>
          </a:xfrm>
          <a:prstGeom prst="rect">
            <a:avLst/>
          </a:prstGeom>
        </p:spPr>
      </p:pic>
      <p:pic>
        <p:nvPicPr>
          <p:cNvPr id="69" name="hf-qr-code" descr="qr_hf.png"/>
          <p:cNvPicPr>
            <a:picLocks noChangeAspect="1"/>
          </p:cNvPicPr>
          <p:nvPr/>
        </p:nvPicPr>
        <p:blipFill>
          <a:blip r:embed="rId6"/>
          <a:stretch>
            <a:fillRect/>
          </a:stretch>
        </p:blipFill>
        <p:spPr>
          <a:xfrm>
            <a:off x="38907720" y="28300680"/>
            <a:ext cx="1143000" cy="1143000"/>
          </a:xfrm>
          <a:prstGeom prst="rect">
            <a:avLst/>
          </a:prstGeom>
        </p:spPr>
      </p:pic>
      <p:graphicFrame>
        <p:nvGraphicFramePr>
          <p:cNvPr id="71" name="payoff-matrix"/>
          <p:cNvGraphicFramePr>
            <a:graphicFrameLocks noGrp="1"/>
          </p:cNvGraphicFramePr>
          <p:nvPr/>
        </p:nvGraphicFramePr>
        <p:xfrm>
          <a:off x="1335024" y="20391120"/>
          <a:ext cx="11045952" cy="1810512"/>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547872">
                  <a:extLst>
                    <a:ext uri="{9D8B030D-6E8A-4147-A177-3AD203B41FA5}">
                      <a16:colId xmlns:a16="http://schemas.microsoft.com/office/drawing/2014/main" val="20002"/>
                    </a:ext>
                  </a:extLst>
                </a:gridCol>
              </a:tblGrid>
              <a:tr h="603504">
                <a:tc>
                  <a:txBody>
                    <a:bodyPr/>
                    <a:lstStyle/>
                    <a:p>
                      <a:pPr algn="l" latinLnBrk="0"/>
                      <a:r>
                        <a:rPr sz="2200" b="1">
                          <a:solidFill>
                            <a:srgbClr val="FFFFFF"/>
                          </a:solidFill>
                          <a:latin typeface="Calibri"/>
                        </a:rPr>
                        <a:t>(u_C, u_E)</a:t>
                      </a:r>
                    </a:p>
                  </a:txBody>
                  <a:tcPr marL="109728" marR="109728" anchor="ctr">
                    <a:solidFill>
                      <a:srgbClr val="003399"/>
                    </a:solidFill>
                  </a:tcPr>
                </a:tc>
                <a:tc>
                  <a:txBody>
                    <a:bodyPr/>
                    <a:lstStyle/>
                    <a:p>
                      <a:pPr algn="ctr" latinLnBrk="0"/>
                      <a:r>
                        <a:rPr sz="2200" b="1">
                          <a:solidFill>
                            <a:srgbClr val="FFFFFF"/>
                          </a:solidFill>
                          <a:latin typeface="Calibri"/>
                        </a:rPr>
                        <a:t>E truthful (r = 6)</a:t>
                      </a:r>
                    </a:p>
                  </a:txBody>
                  <a:tcPr marL="109728" marR="109728" anchor="ctr">
                    <a:solidFill>
                      <a:srgbClr val="003399"/>
                    </a:solidFill>
                  </a:tcPr>
                </a:tc>
                <a:tc>
                  <a:txBody>
                    <a:bodyPr/>
                    <a:lstStyle/>
                    <a:p>
                      <a:pPr algn="ctr" latinLnBrk="0"/>
                      <a:r>
                        <a:rPr sz="2200" b="1">
                          <a:solidFill>
                            <a:srgbClr val="FFFFFF"/>
                          </a:solidFill>
                          <a:latin typeface="Calibri"/>
                        </a:rPr>
                        <a:t>E underreports (r = 4)</a:t>
                      </a:r>
                    </a:p>
                  </a:txBody>
                  <a:tcPr marL="109728" marR="109728" anchor="ctr">
                    <a:solidFill>
                      <a:srgbClr val="003399"/>
                    </a:solidFill>
                  </a:tcPr>
                </a:tc>
                <a:extLst>
                  <a:ext uri="{0D108BD9-81ED-4DB2-BD59-A6C34878D82A}">
                    <a16:rowId xmlns:a16="http://schemas.microsoft.com/office/drawing/2014/main" val="10000"/>
                  </a:ext>
                </a:extLst>
              </a:tr>
              <a:tr h="603504">
                <a:tc>
                  <a:txBody>
                    <a:bodyPr/>
                    <a:lstStyle/>
                    <a:p>
                      <a:pPr algn="l" latinLnBrk="0"/>
                      <a:r>
                        <a:rPr sz="2200" b="1">
                          <a:solidFill>
                            <a:srgbClr val="212A33"/>
                          </a:solidFill>
                          <a:latin typeface="Calibri"/>
                        </a:rPr>
                        <a:t>C truthful (r = 3)</a:t>
                      </a:r>
                    </a:p>
                  </a:txBody>
                  <a:tcPr marL="109728" marR="109728" anchor="ctr">
                    <a:solidFill>
                      <a:srgbClr val="FFFFFF"/>
                    </a:solidFill>
                  </a:tcPr>
                </a:tc>
                <a:tc>
                  <a:txBody>
                    <a:bodyPr/>
                    <a:lstStyle/>
                    <a:p>
                      <a:pPr algn="ctr" latinLnBrk="0"/>
                      <a:r>
                        <a:rPr sz="2200" b="0">
                          <a:solidFill>
                            <a:srgbClr val="212A33"/>
                          </a:solidFill>
                          <a:latin typeface="Calibri"/>
                        </a:rPr>
                        <a:t>(0, 1.2)</a:t>
                      </a:r>
                    </a:p>
                  </a:txBody>
                  <a:tcPr marL="109728" marR="109728" anchor="ctr">
                    <a:solidFill>
                      <a:srgbClr val="FFFFFF"/>
                    </a:solidFill>
                  </a:tcPr>
                </a:tc>
                <a:tc>
                  <a:txBody>
                    <a:bodyPr/>
                    <a:lstStyle/>
                    <a:p>
                      <a:pPr algn="ctr" latinLnBrk="0"/>
                      <a:r>
                        <a:rPr sz="2200" b="0">
                          <a:solidFill>
                            <a:srgbClr val="212A33"/>
                          </a:solidFill>
                          <a:latin typeface="Calibri"/>
                        </a:rPr>
                        <a:t>(0.8, 0)</a:t>
                      </a:r>
                    </a:p>
                  </a:txBody>
                  <a:tcPr marL="109728" marR="109728" anchor="ctr">
                    <a:solidFill>
                      <a:srgbClr val="FFFFFF"/>
                    </a:solidFill>
                  </a:tcPr>
                </a:tc>
                <a:extLst>
                  <a:ext uri="{0D108BD9-81ED-4DB2-BD59-A6C34878D82A}">
                    <a16:rowId xmlns:a16="http://schemas.microsoft.com/office/drawing/2014/main" val="10001"/>
                  </a:ext>
                </a:extLst>
              </a:tr>
              <a:tr h="603504">
                <a:tc>
                  <a:txBody>
                    <a:bodyPr/>
                    <a:lstStyle/>
                    <a:p>
                      <a:pPr algn="l" latinLnBrk="0"/>
                      <a:r>
                        <a:rPr sz="2200" b="1">
                          <a:solidFill>
                            <a:srgbClr val="212A33"/>
                          </a:solidFill>
                          <a:latin typeface="Calibri"/>
                        </a:rPr>
                        <a:t>C overreports (r = 4.5)</a:t>
                      </a:r>
                    </a:p>
                  </a:txBody>
                  <a:tcPr marL="109728" marR="109728" anchor="ctr">
                    <a:solidFill>
                      <a:srgbClr val="F4F6F7"/>
                    </a:solidFill>
                  </a:tcPr>
                </a:tc>
                <a:tc>
                  <a:txBody>
                    <a:bodyPr/>
                    <a:lstStyle/>
                    <a:p>
                      <a:pPr algn="ctr" latinLnBrk="0"/>
                      <a:r>
                        <a:rPr sz="2200" b="0">
                          <a:solidFill>
                            <a:srgbClr val="212A33"/>
                          </a:solidFill>
                          <a:latin typeface="Calibri"/>
                        </a:rPr>
                        <a:t>(−1.2, 0)</a:t>
                      </a:r>
                    </a:p>
                  </a:txBody>
                  <a:tcPr marL="109728" marR="109728" anchor="ctr">
                    <a:solidFill>
                      <a:srgbClr val="F4F6F7"/>
                    </a:solidFill>
                  </a:tcPr>
                </a:tc>
                <a:tc>
                  <a:txBody>
                    <a:bodyPr/>
                    <a:lstStyle/>
                    <a:p>
                      <a:pPr algn="ctr" latinLnBrk="0"/>
                      <a:r>
                        <a:rPr sz="2200" b="0">
                          <a:solidFill>
                            <a:srgbClr val="212A33"/>
                          </a:solidFill>
                          <a:latin typeface="Calibri"/>
                        </a:rPr>
                        <a:t>(0.8, 0)</a:t>
                      </a:r>
                    </a:p>
                  </a:txBody>
                  <a:tcPr marL="109728" marR="109728" anchor="ctr">
                    <a:solidFill>
                      <a:srgbClr val="F4F6F7"/>
                    </a:solidFill>
                  </a:tcPr>
                </a:tc>
                <a:extLst>
                  <a:ext uri="{0D108BD9-81ED-4DB2-BD59-A6C34878D82A}">
                    <a16:rowId xmlns:a16="http://schemas.microsoft.com/office/drawing/2014/main" val="10002"/>
                  </a:ext>
                </a:extLst>
              </a:tr>
            </a:tbl>
          </a:graphicData>
        </a:graphic>
      </p:graphicFrame>
      <p:sp>
        <p:nvSpPr>
          <p:cNvPr id="72" name="question-1"/>
          <p:cNvSpPr/>
          <p:nvPr/>
        </p:nvSpPr>
        <p:spPr>
          <a:xfrm>
            <a:off x="13697712" y="11384280"/>
            <a:ext cx="4983480" cy="2377440"/>
          </a:xfrm>
          <a:prstGeom prst="roundRect">
            <a:avLst>
              <a:gd name="adj" fmla="val 8000"/>
            </a:avLst>
          </a:prstGeom>
          <a:solidFill>
            <a:srgbClr val="FFFFFF"/>
          </a:solidFill>
          <a:ln w="31750">
            <a:solidFill>
              <a:srgbClr val="00339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latinLnBrk="0"/>
            <a:r>
              <a:rPr sz="2800" b="1">
                <a:solidFill>
                  <a:srgbClr val="003399"/>
                </a:solidFill>
                <a:latin typeface="Calibri"/>
              </a:rPr>
              <a:t>Q1  Economics</a:t>
            </a:r>
          </a:p>
          <a:p>
            <a:pPr algn="ctr" latinLnBrk="0">
              <a:spcBef>
                <a:spcPts val="800"/>
              </a:spcBef>
            </a:pPr>
            <a:r>
              <a:rPr sz="2400">
                <a:solidFill>
                  <a:srgbClr val="1F2937"/>
                </a:solidFill>
                <a:latin typeface="Calibri"/>
              </a:rPr>
              <a:t>How should scarce GPU-hours be allocated for value net of carbon when teams can misreport their private value?</a:t>
            </a:r>
          </a:p>
        </p:txBody>
      </p:sp>
      <p:sp>
        <p:nvSpPr>
          <p:cNvPr id="73" name="question-2"/>
          <p:cNvSpPr/>
          <p:nvPr/>
        </p:nvSpPr>
        <p:spPr>
          <a:xfrm>
            <a:off x="18909792" y="11384280"/>
            <a:ext cx="4983480" cy="2377440"/>
          </a:xfrm>
          <a:prstGeom prst="roundRect">
            <a:avLst>
              <a:gd name="adj" fmla="val 8000"/>
            </a:avLst>
          </a:prstGeom>
          <a:solidFill>
            <a:srgbClr val="FFFFFF"/>
          </a:solidFill>
          <a:ln w="31750">
            <a:solidFill>
              <a:srgbClr val="00339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latinLnBrk="0"/>
            <a:r>
              <a:rPr sz="2800" b="1">
                <a:solidFill>
                  <a:srgbClr val="003399"/>
                </a:solidFill>
                <a:latin typeface="Calibri"/>
              </a:rPr>
              <a:t>Q2  Computation</a:t>
            </a:r>
          </a:p>
          <a:p>
            <a:pPr algn="ctr" latinLnBrk="0">
              <a:spcBef>
                <a:spcPts val="800"/>
              </a:spcBef>
            </a:pPr>
            <a:r>
              <a:rPr sz="2400">
                <a:solidFill>
                  <a:srgbClr val="1F2937"/>
                </a:solidFill>
                <a:latin typeface="Calibri"/>
              </a:rPr>
              <a:t>Can an exactly solved multi-team VCG beat first come, first served and stay auditable?</a:t>
            </a:r>
          </a:p>
        </p:txBody>
      </p:sp>
      <p:sp>
        <p:nvSpPr>
          <p:cNvPr id="74" name="question-3"/>
          <p:cNvSpPr/>
          <p:nvPr/>
        </p:nvSpPr>
        <p:spPr>
          <a:xfrm>
            <a:off x="24121872" y="11384280"/>
            <a:ext cx="4983480" cy="2377440"/>
          </a:xfrm>
          <a:prstGeom prst="roundRect">
            <a:avLst>
              <a:gd name="adj" fmla="val 8000"/>
            </a:avLst>
          </a:prstGeom>
          <a:solidFill>
            <a:srgbClr val="FFFFFF"/>
          </a:solidFill>
          <a:ln w="31750">
            <a:solidFill>
              <a:srgbClr val="00339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latinLnBrk="0"/>
            <a:r>
              <a:rPr sz="2800" b="1">
                <a:solidFill>
                  <a:srgbClr val="003399"/>
                </a:solidFill>
                <a:latin typeface="Calibri"/>
              </a:rPr>
              <a:t>Q3  Behavior</a:t>
            </a:r>
          </a:p>
          <a:p>
            <a:pPr algn="ctr" latinLnBrk="0">
              <a:spcBef>
                <a:spcPts val="800"/>
              </a:spcBef>
            </a:pPr>
            <a:r>
              <a:rPr sz="2400">
                <a:solidFill>
                  <a:srgbClr val="1F2937"/>
                </a:solidFill>
                <a:latin typeface="Calibri"/>
              </a:rPr>
              <a:t>Do people report truthfully and understand the rule?</a:t>
            </a:r>
          </a:p>
        </p:txBody>
      </p:sp>
      <p:sp>
        <p:nvSpPr>
          <p:cNvPr id="75" name="request-A"/>
          <p:cNvSpPr/>
          <p:nvPr/>
        </p:nvSpPr>
        <p:spPr>
          <a:xfrm>
            <a:off x="13697712" y="14374368"/>
            <a:ext cx="2363724" cy="77724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latinLnBrk="0"/>
            <a:r>
              <a:rPr sz="2400" b="1">
                <a:solidFill>
                  <a:srgbClr val="FFFFFF"/>
                </a:solidFill>
                <a:latin typeface="Calibri"/>
              </a:rPr>
              <a:t>A · 25 h</a:t>
            </a:r>
          </a:p>
        </p:txBody>
      </p:sp>
      <p:sp>
        <p:nvSpPr>
          <p:cNvPr id="76" name="request-B"/>
          <p:cNvSpPr/>
          <p:nvPr/>
        </p:nvSpPr>
        <p:spPr>
          <a:xfrm>
            <a:off x="16098012" y="14374368"/>
            <a:ext cx="1883664" cy="777240"/>
          </a:xfrm>
          <a:prstGeom prst="rect">
            <a:avLst/>
          </a:prstGeom>
          <a:solidFill>
            <a:srgbClr val="4F86E0"/>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latinLnBrk="0"/>
            <a:r>
              <a:rPr sz="2400" b="1">
                <a:solidFill>
                  <a:srgbClr val="FFFFFF"/>
                </a:solidFill>
                <a:latin typeface="Calibri"/>
              </a:rPr>
              <a:t>B · 20 h</a:t>
            </a:r>
          </a:p>
        </p:txBody>
      </p:sp>
      <p:sp>
        <p:nvSpPr>
          <p:cNvPr id="77" name="request-C"/>
          <p:cNvSpPr/>
          <p:nvPr/>
        </p:nvSpPr>
        <p:spPr>
          <a:xfrm>
            <a:off x="18018252" y="14374368"/>
            <a:ext cx="1403604" cy="777240"/>
          </a:xfrm>
          <a:prstGeom prst="rect">
            <a:avLst/>
          </a:prstGeom>
          <a:solidFill>
            <a:srgbClr val="BFD3F6"/>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latinLnBrk="0"/>
            <a:r>
              <a:rPr sz="2400" b="1">
                <a:solidFill>
                  <a:srgbClr val="212A33"/>
                </a:solidFill>
                <a:latin typeface="Calibri"/>
              </a:rPr>
              <a:t>C · 15 h</a:t>
            </a:r>
          </a:p>
        </p:txBody>
      </p:sp>
      <p:sp>
        <p:nvSpPr>
          <p:cNvPr id="78" name="request-D"/>
          <p:cNvSpPr/>
          <p:nvPr/>
        </p:nvSpPr>
        <p:spPr>
          <a:xfrm>
            <a:off x="19458432" y="14374368"/>
            <a:ext cx="2363724" cy="77724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latinLnBrk="0"/>
            <a:r>
              <a:rPr sz="2400" b="1">
                <a:solidFill>
                  <a:srgbClr val="FFFFFF"/>
                </a:solidFill>
                <a:latin typeface="Calibri"/>
              </a:rPr>
              <a:t>D · 25 h</a:t>
            </a:r>
          </a:p>
        </p:txBody>
      </p:sp>
      <p:sp>
        <p:nvSpPr>
          <p:cNvPr id="79" name="request-E"/>
          <p:cNvSpPr/>
          <p:nvPr/>
        </p:nvSpPr>
        <p:spPr>
          <a:xfrm>
            <a:off x="21858732" y="14374368"/>
            <a:ext cx="1883664" cy="777240"/>
          </a:xfrm>
          <a:prstGeom prst="rect">
            <a:avLst/>
          </a:prstGeom>
          <a:solidFill>
            <a:srgbClr val="4F86E0"/>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latinLnBrk="0"/>
            <a:r>
              <a:rPr sz="2400" b="1">
                <a:solidFill>
                  <a:srgbClr val="FFFFFF"/>
                </a:solidFill>
                <a:latin typeface="Calibri"/>
              </a:rPr>
              <a:t>E · 20 h</a:t>
            </a:r>
          </a:p>
        </p:txBody>
      </p:sp>
      <p:sp>
        <p:nvSpPr>
          <p:cNvPr id="80" name="request-F"/>
          <p:cNvSpPr/>
          <p:nvPr/>
        </p:nvSpPr>
        <p:spPr>
          <a:xfrm>
            <a:off x="23778972" y="14374368"/>
            <a:ext cx="1403604" cy="777240"/>
          </a:xfrm>
          <a:prstGeom prst="rect">
            <a:avLst/>
          </a:prstGeom>
          <a:solidFill>
            <a:srgbClr val="BFD3F6"/>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latinLnBrk="0"/>
            <a:r>
              <a:rPr sz="2400" b="1">
                <a:solidFill>
                  <a:srgbClr val="212A33"/>
                </a:solidFill>
                <a:latin typeface="Calibri"/>
              </a:rPr>
              <a:t>F · 15 h</a:t>
            </a:r>
          </a:p>
        </p:txBody>
      </p:sp>
      <p:sp>
        <p:nvSpPr>
          <p:cNvPr id="81" name="capacity-line"/>
          <p:cNvSpPr/>
          <p:nvPr/>
        </p:nvSpPr>
        <p:spPr>
          <a:xfrm>
            <a:off x="23271480" y="14026896"/>
            <a:ext cx="54864" cy="1344168"/>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latinLnBrk="0"/>
            <a:endParaRPr/>
          </a:p>
        </p:txBody>
      </p:sp>
      <p:sp>
        <p:nvSpPr>
          <p:cNvPr id="82" name="capacity-label"/>
          <p:cNvSpPr/>
          <p:nvPr/>
        </p:nvSpPr>
        <p:spPr>
          <a:xfrm>
            <a:off x="19915632" y="13825728"/>
            <a:ext cx="329184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r" latinLnBrk="0"/>
            <a:r>
              <a:rPr sz="2200" b="1">
                <a:solidFill>
                  <a:srgbClr val="212A33"/>
                </a:solidFill>
                <a:latin typeface="Calibri"/>
              </a:rPr>
              <a:t>capacity K = 100 GPU-h</a:t>
            </a:r>
          </a:p>
        </p:txBody>
      </p:sp>
      <p:sp>
        <p:nvSpPr>
          <p:cNvPr id="83" name="overflow-label"/>
          <p:cNvSpPr/>
          <p:nvPr/>
        </p:nvSpPr>
        <p:spPr>
          <a:xfrm>
            <a:off x="25356311" y="14328648"/>
            <a:ext cx="36576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latinLnBrk="0"/>
            <a:r>
              <a:rPr sz="2400" b="1">
                <a:solidFill>
                  <a:srgbClr val="C2410C"/>
                </a:solidFill>
                <a:latin typeface="Calibri"/>
              </a:rPr>
              <a:t>120 GPU-h requested:
who is left out?</a:t>
            </a:r>
          </a:p>
        </p:txBody>
      </p:sp>
      <p:sp>
        <p:nvSpPr>
          <p:cNvPr id="84" name="setting-legend"/>
          <p:cNvSpPr/>
          <p:nvPr/>
        </p:nvSpPr>
        <p:spPr>
          <a:xfrm>
            <a:off x="13697712" y="15243048"/>
            <a:ext cx="15361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latinLnBrk="0"/>
            <a:r>
              <a:rPr sz="2100" b="0">
                <a:solidFill>
                  <a:srgbClr val="56616B"/>
                </a:solidFill>
                <a:latin typeface="Calibri"/>
              </a:rPr>
              <a:t>Block width = public request dᵢ.  Shade = private value vᵢ (dark 9, medium 6, light 3).  Emissions eᵢ = 0.24 dᵢ kg CO₂e;  λ = 0.5.</a:t>
            </a:r>
          </a:p>
        </p:txBody>
      </p:sp>
      <p:graphicFrame>
        <p:nvGraphicFramePr>
          <p:cNvPr id="85" name="plays-table"/>
          <p:cNvGraphicFramePr>
            <a:graphicFrameLocks noGrp="1"/>
          </p:cNvGraphicFramePr>
          <p:nvPr/>
        </p:nvGraphicFramePr>
        <p:xfrm>
          <a:off x="30422088" y="17007840"/>
          <a:ext cx="11045952" cy="2743200"/>
        </p:xfrm>
        <a:graphic>
          <a:graphicData uri="http://schemas.openxmlformats.org/drawingml/2006/table">
            <a:tbl>
              <a:tblPr firstRow="1" bandRow="1">
                <a:tableStyleId>{5C22544A-7EE6-4342-B048-85BDC9FD1C3A}</a:tableStyleId>
              </a:tblPr>
              <a:tblGrid>
                <a:gridCol w="6583680">
                  <a:extLst>
                    <a:ext uri="{9D8B030D-6E8A-4147-A177-3AD203B41FA5}">
                      <a16:colId xmlns:a16="http://schemas.microsoft.com/office/drawing/2014/main" val="20000"/>
                    </a:ext>
                  </a:extLst>
                </a:gridCol>
                <a:gridCol w="2231136">
                  <a:extLst>
                    <a:ext uri="{9D8B030D-6E8A-4147-A177-3AD203B41FA5}">
                      <a16:colId xmlns:a16="http://schemas.microsoft.com/office/drawing/2014/main" val="20001"/>
                    </a:ext>
                  </a:extLst>
                </a:gridCol>
                <a:gridCol w="2231136">
                  <a:extLst>
                    <a:ext uri="{9D8B030D-6E8A-4147-A177-3AD203B41FA5}">
                      <a16:colId xmlns:a16="http://schemas.microsoft.com/office/drawing/2014/main" val="20002"/>
                    </a:ext>
                  </a:extLst>
                </a:gridCol>
              </a:tblGrid>
              <a:tr h="548640">
                <a:tc>
                  <a:txBody>
                    <a:bodyPr/>
                    <a:lstStyle/>
                    <a:p>
                      <a:pPr algn="l" latinLnBrk="0"/>
                      <a:r>
                        <a:rPr sz="2200" b="1">
                          <a:solidFill>
                            <a:srgbClr val="FFFFFF"/>
                          </a:solidFill>
                          <a:latin typeface="Calibri"/>
                        </a:rPr>
                        <a:t>Measure</a:t>
                      </a:r>
                    </a:p>
                  </a:txBody>
                  <a:tcPr marL="109728" marR="109728" anchor="ctr">
                    <a:solidFill>
                      <a:srgbClr val="003399"/>
                    </a:solidFill>
                  </a:tcPr>
                </a:tc>
                <a:tc>
                  <a:txBody>
                    <a:bodyPr/>
                    <a:lstStyle/>
                    <a:p>
                      <a:pPr algn="ctr" latinLnBrk="0"/>
                      <a:r>
                        <a:rPr sz="2200" b="1">
                          <a:solidFill>
                            <a:srgbClr val="FFFFFF"/>
                          </a:solidFill>
                          <a:latin typeface="Calibri"/>
                        </a:rPr>
                        <a:t>Benchmark</a:t>
                      </a:r>
                    </a:p>
                  </a:txBody>
                  <a:tcPr marL="109728" marR="109728" anchor="ctr">
                    <a:solidFill>
                      <a:srgbClr val="003399"/>
                    </a:solidFill>
                  </a:tcPr>
                </a:tc>
                <a:tc>
                  <a:txBody>
                    <a:bodyPr/>
                    <a:lstStyle/>
                    <a:p>
                      <a:pPr algn="ctr" latinLnBrk="0"/>
                      <a:r>
                        <a:rPr sz="2200" b="1">
                          <a:solidFill>
                            <a:srgbClr val="FFFFFF"/>
                          </a:solidFill>
                          <a:latin typeface="Calibri"/>
                        </a:rPr>
                        <a:t>Observed</a:t>
                      </a:r>
                    </a:p>
                  </a:txBody>
                  <a:tcPr marL="109728" marR="109728" anchor="ctr">
                    <a:solidFill>
                      <a:srgbClr val="003399"/>
                    </a:solidFill>
                  </a:tcPr>
                </a:tc>
                <a:extLst>
                  <a:ext uri="{0D108BD9-81ED-4DB2-BD59-A6C34878D82A}">
                    <a16:rowId xmlns:a16="http://schemas.microsoft.com/office/drawing/2014/main" val="10000"/>
                  </a:ext>
                </a:extLst>
              </a:tr>
              <a:tr h="548640">
                <a:tc>
                  <a:txBody>
                    <a:bodyPr/>
                    <a:lstStyle/>
                    <a:p>
                      <a:pPr algn="l" latinLnBrk="0"/>
                      <a:r>
                        <a:rPr sz="2200" b="1">
                          <a:solidFill>
                            <a:srgbClr val="212A33"/>
                          </a:solidFill>
                          <a:latin typeface="Calibri"/>
                        </a:rPr>
                        <a:t>Truthful reports (r = v)</a:t>
                      </a:r>
                    </a:p>
                  </a:txBody>
                  <a:tcPr marL="109728" marR="109728" anchor="ctr">
                    <a:solidFill>
                      <a:srgbClr val="FFFFFF"/>
                    </a:solidFill>
                  </a:tcPr>
                </a:tc>
                <a:tc>
                  <a:txBody>
                    <a:bodyPr/>
                    <a:lstStyle/>
                    <a:p>
                      <a:pPr algn="ctr" latinLnBrk="0"/>
                      <a:r>
                        <a:rPr sz="2200" b="0">
                          <a:solidFill>
                            <a:srgbClr val="212A33"/>
                          </a:solidFill>
                          <a:latin typeface="Calibri"/>
                        </a:rPr>
                        <a:t>5 / 5</a:t>
                      </a:r>
                    </a:p>
                  </a:txBody>
                  <a:tcPr marL="109728" marR="109728" anchor="ctr">
                    <a:solidFill>
                      <a:srgbClr val="FFFFFF"/>
                    </a:solidFill>
                  </a:tcPr>
                </a:tc>
                <a:tc>
                  <a:txBody>
                    <a:bodyPr/>
                    <a:lstStyle/>
                    <a:p>
                      <a:pPr algn="ctr" latinLnBrk="0"/>
                      <a:r>
                        <a:rPr sz="2200" b="0">
                          <a:solidFill>
                            <a:srgbClr val="212A33"/>
                          </a:solidFill>
                          <a:latin typeface="Calibri"/>
                        </a:rPr>
                        <a:t>2 / 5</a:t>
                      </a:r>
                    </a:p>
                  </a:txBody>
                  <a:tcPr marL="109728" marR="109728" anchor="ctr">
                    <a:solidFill>
                      <a:srgbClr val="FFFFFF"/>
                    </a:solidFill>
                  </a:tcPr>
                </a:tc>
                <a:extLst>
                  <a:ext uri="{0D108BD9-81ED-4DB2-BD59-A6C34878D82A}">
                    <a16:rowId xmlns:a16="http://schemas.microsoft.com/office/drawing/2014/main" val="10001"/>
                  </a:ext>
                </a:extLst>
              </a:tr>
              <a:tr h="548640">
                <a:tc>
                  <a:txBody>
                    <a:bodyPr/>
                    <a:lstStyle/>
                    <a:p>
                      <a:pPr algn="l" latinLnBrk="0"/>
                      <a:r>
                        <a:rPr sz="2200" b="1">
                          <a:solidFill>
                            <a:srgbClr val="212A33"/>
                          </a:solidFill>
                          <a:latin typeface="Calibri"/>
                        </a:rPr>
                        <a:t>Overreports</a:t>
                      </a:r>
                    </a:p>
                  </a:txBody>
                  <a:tcPr marL="109728" marR="109728" anchor="ctr">
                    <a:solidFill>
                      <a:srgbClr val="F4F6F7"/>
                    </a:solidFill>
                  </a:tcPr>
                </a:tc>
                <a:tc>
                  <a:txBody>
                    <a:bodyPr/>
                    <a:lstStyle/>
                    <a:p>
                      <a:pPr algn="ctr" latinLnBrk="0"/>
                      <a:r>
                        <a:rPr sz="2200" b="0">
                          <a:solidFill>
                            <a:srgbClr val="212A33"/>
                          </a:solidFill>
                          <a:latin typeface="Calibri"/>
                        </a:rPr>
                        <a:t>0</a:t>
                      </a:r>
                    </a:p>
                  </a:txBody>
                  <a:tcPr marL="109728" marR="109728" anchor="ctr">
                    <a:solidFill>
                      <a:srgbClr val="F4F6F7"/>
                    </a:solidFill>
                  </a:tcPr>
                </a:tc>
                <a:tc>
                  <a:txBody>
                    <a:bodyPr/>
                    <a:lstStyle/>
                    <a:p>
                      <a:pPr algn="ctr" latinLnBrk="0"/>
                      <a:r>
                        <a:rPr sz="2200" b="0">
                          <a:solidFill>
                            <a:srgbClr val="212A33"/>
                          </a:solidFill>
                          <a:latin typeface="Calibri"/>
                        </a:rPr>
                        <a:t>3</a:t>
                      </a:r>
                    </a:p>
                  </a:txBody>
                  <a:tcPr marL="109728" marR="109728" anchor="ctr">
                    <a:solidFill>
                      <a:srgbClr val="F4F6F7"/>
                    </a:solidFill>
                  </a:tcPr>
                </a:tc>
                <a:extLst>
                  <a:ext uri="{0D108BD9-81ED-4DB2-BD59-A6C34878D82A}">
                    <a16:rowId xmlns:a16="http://schemas.microsoft.com/office/drawing/2014/main" val="10002"/>
                  </a:ext>
                </a:extLst>
              </a:tr>
              <a:tr h="548640">
                <a:tc>
                  <a:txBody>
                    <a:bodyPr/>
                    <a:lstStyle/>
                    <a:p>
                      <a:pPr algn="l" latinLnBrk="0"/>
                      <a:r>
                        <a:rPr sz="2200" b="1">
                          <a:solidFill>
                            <a:srgbClr val="212A33"/>
                          </a:solidFill>
                          <a:latin typeface="Calibri"/>
                        </a:rPr>
                        <a:t>Selection predicted correctly</a:t>
                      </a:r>
                    </a:p>
                  </a:txBody>
                  <a:tcPr marL="109728" marR="109728" anchor="ctr">
                    <a:solidFill>
                      <a:srgbClr val="FFFFFF"/>
                    </a:solidFill>
                  </a:tcPr>
                </a:tc>
                <a:tc>
                  <a:txBody>
                    <a:bodyPr/>
                    <a:lstStyle/>
                    <a:p>
                      <a:pPr algn="ctr" latinLnBrk="0"/>
                      <a:r>
                        <a:rPr sz="2200" b="0">
                          <a:solidFill>
                            <a:srgbClr val="212A33"/>
                          </a:solidFill>
                          <a:latin typeface="Calibri"/>
                        </a:rPr>
                        <a:t>—</a:t>
                      </a:r>
                    </a:p>
                  </a:txBody>
                  <a:tcPr marL="109728" marR="109728" anchor="ctr">
                    <a:solidFill>
                      <a:srgbClr val="FFFFFF"/>
                    </a:solidFill>
                  </a:tcPr>
                </a:tc>
                <a:tc>
                  <a:txBody>
                    <a:bodyPr/>
                    <a:lstStyle/>
                    <a:p>
                      <a:pPr algn="ctr" latinLnBrk="0"/>
                      <a:r>
                        <a:rPr sz="2200" b="0">
                          <a:solidFill>
                            <a:srgbClr val="212A33"/>
                          </a:solidFill>
                          <a:latin typeface="Calibri"/>
                        </a:rPr>
                        <a:t>3 / 5</a:t>
                      </a:r>
                    </a:p>
                  </a:txBody>
                  <a:tcPr marL="109728" marR="109728" anchor="ctr">
                    <a:solidFill>
                      <a:srgbClr val="FFFFFF"/>
                    </a:solidFill>
                  </a:tcPr>
                </a:tc>
                <a:extLst>
                  <a:ext uri="{0D108BD9-81ED-4DB2-BD59-A6C34878D82A}">
                    <a16:rowId xmlns:a16="http://schemas.microsoft.com/office/drawing/2014/main" val="10003"/>
                  </a:ext>
                </a:extLst>
              </a:tr>
              <a:tr h="548640">
                <a:tc>
                  <a:txBody>
                    <a:bodyPr/>
                    <a:lstStyle/>
                    <a:p>
                      <a:pPr algn="l" latinLnBrk="0"/>
                      <a:r>
                        <a:rPr sz="2200" b="1">
                          <a:solidFill>
                            <a:srgbClr val="212A33"/>
                          </a:solidFill>
                          <a:latin typeface="Calibri"/>
                        </a:rPr>
                        <a:t>Plays where a misreport raised utility</a:t>
                      </a:r>
                    </a:p>
                  </a:txBody>
                  <a:tcPr marL="109728" marR="109728" anchor="ctr">
                    <a:solidFill>
                      <a:srgbClr val="F4F6F7"/>
                    </a:solidFill>
                  </a:tcPr>
                </a:tc>
                <a:tc>
                  <a:txBody>
                    <a:bodyPr/>
                    <a:lstStyle/>
                    <a:p>
                      <a:pPr algn="ctr" latinLnBrk="0"/>
                      <a:r>
                        <a:rPr sz="2200" b="0">
                          <a:solidFill>
                            <a:srgbClr val="212A33"/>
                          </a:solidFill>
                          <a:latin typeface="Calibri"/>
                        </a:rPr>
                        <a:t>0</a:t>
                      </a:r>
                    </a:p>
                  </a:txBody>
                  <a:tcPr marL="109728" marR="109728" anchor="ctr">
                    <a:solidFill>
                      <a:srgbClr val="F4F6F7"/>
                    </a:solidFill>
                  </a:tcPr>
                </a:tc>
                <a:tc>
                  <a:txBody>
                    <a:bodyPr/>
                    <a:lstStyle/>
                    <a:p>
                      <a:pPr algn="ctr" latinLnBrk="0"/>
                      <a:r>
                        <a:rPr sz="2200" b="0">
                          <a:solidFill>
                            <a:srgbClr val="212A33"/>
                          </a:solidFill>
                          <a:latin typeface="Calibri"/>
                        </a:rPr>
                        <a:t>0</a:t>
                      </a:r>
                    </a:p>
                  </a:txBody>
                  <a:tcPr marL="109728" marR="109728" anchor="ctr">
                    <a:solidFill>
                      <a:srgbClr val="F4F6F7"/>
                    </a:solidFill>
                  </a:tcPr>
                </a:tc>
                <a:extLst>
                  <a:ext uri="{0D108BD9-81ED-4DB2-BD59-A6C34878D82A}">
                    <a16:rowId xmlns:a16="http://schemas.microsoft.com/office/drawing/2014/main" val="10004"/>
                  </a:ext>
                </a:extLst>
              </a:tr>
            </a:tbl>
          </a:graphicData>
        </a:graphic>
      </p:graphicFrame>
      <p:pic>
        <p:nvPicPr>
          <p:cNvPr id="86" name="github-qr-code" descr="image.png"/>
          <p:cNvPicPr>
            <a:picLocks noChangeAspect="1"/>
          </p:cNvPicPr>
          <p:nvPr/>
        </p:nvPicPr>
        <p:blipFill>
          <a:blip r:embed="rId7"/>
          <a:stretch>
            <a:fillRect/>
          </a:stretch>
        </p:blipFill>
        <p:spPr>
          <a:xfrm>
            <a:off x="40279320" y="28300680"/>
            <a:ext cx="1143000" cy="1143000"/>
          </a:xfrm>
          <a:prstGeom prst="rect">
            <a:avLst/>
          </a:prstGeom>
        </p:spPr>
      </p:pic>
    </p:spTree>
    <p:extLst>
      <p:ext uri="{BB962C8B-B14F-4D97-AF65-F5344CB8AC3E}">
        <p14:creationId xmlns:p14="http://schemas.microsoft.com/office/powerpoint/2010/main" val="8139821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88</TotalTime>
  <Words>1736</Words>
  <Application>Microsoft Macintosh PowerPoint</Application>
  <DocSecurity>0</DocSecurity>
  <PresentationFormat>사용자 지정</PresentationFormat>
  <Paragraphs>104</Paragraphs>
  <Slides>1</Slides>
  <Notes>1</Notes>
  <HiddenSlides>0</HiddenSlides>
  <MMClips>0</MMClips>
  <ScaleCrop>false</ScaleCrop>
  <HeadingPairs>
    <vt:vector size="6" baseType="variant">
      <vt:variant>
        <vt:lpstr>사용한 글꼴</vt:lpstr>
      </vt:variant>
      <vt:variant>
        <vt:i4>1</vt:i4>
      </vt:variant>
      <vt:variant>
        <vt:lpstr>테마</vt:lpstr>
      </vt:variant>
      <vt:variant>
        <vt:i4>1</vt:i4>
      </vt:variant>
      <vt:variant>
        <vt:lpstr>슬라이드 제목</vt:lpstr>
      </vt:variant>
      <vt:variant>
        <vt:i4>1</vt:i4>
      </vt:variant>
    </vt:vector>
  </HeadingPairs>
  <TitlesOfParts>
    <vt:vector size="3" baseType="lpstr">
      <vt:lpstr>Calibri</vt:lpstr>
      <vt:lpstr>ChatGPT</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Gihun Lee</cp:lastModifiedBy>
  <cp:revision>7</cp:revision>
  <dcterms:created xsi:type="dcterms:W3CDTF">2026-09-21T06:28:50Z</dcterms:created>
  <dcterms:modified xsi:type="dcterms:W3CDTF">2026-10-05T15:29:41Z</dcterms:modified>
</cp:coreProperties>
</file>