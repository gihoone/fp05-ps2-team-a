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42803763" cy="3027521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88"/>
    <p:restoredTop sz="94616"/>
  </p:normalViewPr>
  <p:slideViewPr>
    <p:cSldViewPr snapToGrid="0">
      <p:cViewPr>
        <p:scale>
          <a:sx n="34" d="100"/>
          <a:sy n="34" d="100"/>
        </p:scale>
        <p:origin x="2248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COMSCI/ECON 206 PS2 clean A0 poster template.</a:t>
            </a:r>
          </a:p>
          <a:p>
            <a:r>
              <a:t>Brand guide: https://dku-web-admissions.s3.cn-north-1.amazonaws.com.cn/dkumain/wp-content/uploads/mainsite/2022/05/brand-guide-compressed_2021.pdf, linked from https://www.dukekunshan.edu.cn/media/. Guide pp. 5, 6, 12, 14, and 15 establish logo clear space/proportions, unchanged logo artwork, application colors #003399 and #006633 plus white, and Calibri as the office system font when InterstatePlus cannot be used. Official logo asset: https://www.dukekunshan.edu.cn/wp-content/uploads/2021/08/large_dku-Logo.png.</a:t>
            </a:r>
          </a:p>
          <a:p>
            <a:r>
              <a:t>Calibri is specified in the editable PowerPoint. The exported PDF uses Carlito, a metric-compatible open-source substitute because Calibri is unavailable in the export environment. Re-export from PowerPoint with Calibri for institution-font-exact output.</a:t>
            </a:r>
          </a:p>
          <a:p>
            <a:r>
              <a:t>Clean and annotated versions share all element positions. Keep A0 landscape 1189 x 841 mm, 100% print scale. Text and figure/QR placeholders are editable; preserve the embedded logo unchanged and keep at least half its height as clear space. Instructor belongs below authors, not in the author list. Replace all placeholders with actual work; distinguish observed results, inferences, and planned tests. QR codes are optional but full public URLs and tested access are required. References must be full and traceable; acknowledgments must name actual contributions and AI assistance. Sep 28: symposium, peer evaluation and real-world case impacts. Sep 30: final update. The PS1-style paper, LaTeX, and learning pathway are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huggingface.co/spaces/dku-comsci-econ206-2026/PS2_Team_A" TargetMode="External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Relationship Id="rId10" Type="http://schemas.openxmlformats.org/officeDocument/2006/relationships/image" Target="../media/image7.png"/><Relationship Id="rId11" Type="http://schemas.openxmlformats.org/officeDocument/2006/relationships/hyperlink" Target="https://github.com/dku-comsci-econ206-Autumn2026/FP05-PS2-Team-A" TargetMode="External"/><Relationship Id="rId12" Type="http://schemas.openxmlformats.org/officeDocument/2006/relationships/hyperlink" Target="https://colab.research.google.com/drive/1xYtctTPKXDszHMjdOS7IVz-OByt4edl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op-brand-rule">
            <a:extLst>
              <a:ext uri="{FF2B5EF4-FFF2-40B4-BE49-F238E27FC236}">
                <a16:creationId xmlns:a16="http://schemas.microsoft.com/office/drawing/2014/main" id="{FDACD238-30EA-433B-B9A8-2AB270625A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2804000" cy="228600"/>
          </a:xfrm>
          <a:prstGeom prst="rect">
            <a:avLst/>
          </a:prstGeom>
          <a:solidFill>
            <a:srgbClr val="003399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" name="course-line">
            <a:extLst>
              <a:ext uri="{FF2B5EF4-FFF2-40B4-BE49-F238E27FC236}">
                <a16:creationId xmlns:a16="http://schemas.microsoft.com/office/drawing/2014/main" id="{5806B552-CE06-4C40-BA14-45983C2DB289}"/>
              </a:ext>
            </a:extLst>
          </p:cNvPr>
          <p:cNvSpPr>
            <a:spLocks noGrp="1"/>
          </p:cNvSpPr>
          <p:nvPr/>
        </p:nvSpPr>
        <p:spPr>
          <a:xfrm>
            <a:off x="1333500" y="781050"/>
            <a:ext cx="288607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7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COMSCI / ECON 206   |   FINAL PROJECT: VERIFIED CONTRIBUTION &amp; REPRODUCIBLE RELEASE   |   FALL 2026</a:t>
            </a:r>
          </a:p>
        </p:txBody>
      </p:sp>
      <p:sp>
        <p:nvSpPr>
          <p:cNvPr id="3" name="version">
            <a:extLst>
              <a:ext uri="{FF2B5EF4-FFF2-40B4-BE49-F238E27FC236}">
                <a16:creationId xmlns:a16="http://schemas.microsoft.com/office/drawing/2014/main" id="{05588AA4-5EDB-4475-A143-90877DB14160}"/>
              </a:ext>
            </a:extLst>
          </p:cNvPr>
          <p:cNvSpPr>
            <a:spLocks noGrp="1"/>
          </p:cNvSpPr>
          <p:nvPr/>
        </p:nvSpPr>
        <p:spPr>
          <a:xfrm>
            <a:off x="31623000" y="6153150"/>
            <a:ext cx="9810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r" latinLnBrk="0">
              <a:defRPr sz="210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FINAL v3  ·  OCT 21, 2026  ·  commit 2045024</a:t>
            </a:r>
          </a:p>
        </p:txBody>
      </p:sp>
      <p:sp>
        <p:nvSpPr>
          <p:cNvPr id="4" name="project-title">
            <a:extLst>
              <a:ext uri="{FF2B5EF4-FFF2-40B4-BE49-F238E27FC236}">
                <a16:creationId xmlns:a16="http://schemas.microsoft.com/office/drawing/2014/main" id="{B66A5B7F-804A-4F30-B6A0-3C5C2AB4C437}"/>
              </a:ext>
            </a:extLst>
          </p:cNvPr>
          <p:cNvSpPr>
            <a:spLocks noGrp="1"/>
          </p:cNvSpPr>
          <p:nvPr/>
        </p:nvSpPr>
        <p:spPr>
          <a:xfrm>
            <a:off x="1333500" y="1733550"/>
            <a:ext cx="29146500" cy="2619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94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8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Can a carbon-aware VCG rule allocate shared</a:t>
            </a:r>
          </a:p>
          <a:p>
            <a:pPr algn="l" latinLnBrk="0">
              <a:defRPr sz="94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8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GPU-hours better than first come, first served?</a:t>
            </a:r>
          </a:p>
        </p:txBody>
      </p:sp>
      <p:sp>
        <p:nvSpPr>
          <p:cNvPr id="5" name="authors">
            <a:extLst>
              <a:ext uri="{FF2B5EF4-FFF2-40B4-BE49-F238E27FC236}">
                <a16:creationId xmlns:a16="http://schemas.microsoft.com/office/drawing/2014/main" id="{439A7EDB-36D0-4D9A-9F53-6704B96A144F}"/>
              </a:ext>
            </a:extLst>
          </p:cNvPr>
          <p:cNvSpPr>
            <a:spLocks noGrp="1"/>
          </p:cNvSpPr>
          <p:nvPr/>
        </p:nvSpPr>
        <p:spPr>
          <a:xfrm>
            <a:off x="1333500" y="4457700"/>
            <a:ext cx="28575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4050" b="1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405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Temur Akhtamjonov, Mustafa Ayub Khan, Gihun Lee  |  Team FP5</a:t>
            </a:r>
          </a:p>
        </p:txBody>
      </p:sp>
      <p:sp>
        <p:nvSpPr>
          <p:cNvPr id="6" name="course-instructor">
            <a:extLst>
              <a:ext uri="{FF2B5EF4-FFF2-40B4-BE49-F238E27FC236}">
                <a16:creationId xmlns:a16="http://schemas.microsoft.com/office/drawing/2014/main" id="{E0620329-B4C6-41DE-A2DD-7C1BAB05722F}"/>
              </a:ext>
            </a:extLst>
          </p:cNvPr>
          <p:cNvSpPr>
            <a:spLocks noGrp="1"/>
          </p:cNvSpPr>
          <p:nvPr/>
        </p:nvSpPr>
        <p:spPr>
          <a:xfrm>
            <a:off x="1333500" y="5229225"/>
            <a:ext cx="2857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0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0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Course instructor: Professor Luyao Zhang</a:t>
            </a:r>
          </a:p>
        </p:txBody>
      </p:sp>
      <p:pic>
        <p:nvPicPr>
          <p:cNvPr id="58" name="그림 5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2575500" y="2190750"/>
            <a:ext cx="8096250" cy="2595818"/>
          </a:xfrm>
          <a:prstGeom prst="rect">
            <a:avLst/>
          </a:prstGeom>
        </p:spPr>
      </p:pic>
      <p:sp>
        <p:nvSpPr>
          <p:cNvPr id="8" name="takeaway-band">
            <a:extLst>
              <a:ext uri="{FF2B5EF4-FFF2-40B4-BE49-F238E27FC236}">
                <a16:creationId xmlns:a16="http://schemas.microsoft.com/office/drawing/2014/main" id="{E5C59819-8AE8-4F07-93AA-7B6F5A9A66D5}"/>
              </a:ext>
            </a:extLst>
          </p:cNvPr>
          <p:cNvSpPr>
            <a:spLocks noGrp="1"/>
          </p:cNvSpPr>
          <p:nvPr/>
        </p:nvSpPr>
        <p:spPr>
          <a:xfrm>
            <a:off x="0" y="6572250"/>
            <a:ext cx="42804000" cy="2143125"/>
          </a:xfrm>
          <a:prstGeom prst="rect">
            <a:avLst/>
          </a:prstGeom>
          <a:solidFill>
            <a:srgbClr val="003399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9" name="takeaway-label">
            <a:extLst>
              <a:ext uri="{FF2B5EF4-FFF2-40B4-BE49-F238E27FC236}">
                <a16:creationId xmlns:a16="http://schemas.microsoft.com/office/drawing/2014/main" id="{701690AD-D64E-4607-AE56-414773E6FFD1}"/>
              </a:ext>
            </a:extLst>
          </p:cNvPr>
          <p:cNvSpPr>
            <a:spLocks noGrp="1"/>
          </p:cNvSpPr>
          <p:nvPr/>
        </p:nvSpPr>
        <p:spPr>
          <a:xfrm>
            <a:off x="1333500" y="7239000"/>
            <a:ext cx="46672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 MESSAGE</a:t>
            </a:r>
          </a:p>
        </p:txBody>
      </p:sp>
      <p:sp>
        <p:nvSpPr>
          <p:cNvPr id="10" name="takeaway">
            <a:extLst>
              <a:ext uri="{FF2B5EF4-FFF2-40B4-BE49-F238E27FC236}">
                <a16:creationId xmlns:a16="http://schemas.microsoft.com/office/drawing/2014/main" id="{83EFFE95-83CD-498B-99EF-83DF06C3C922}"/>
              </a:ext>
            </a:extLst>
          </p:cNvPr>
          <p:cNvSpPr>
            <a:spLocks noGrp="1"/>
          </p:cNvSpPr>
          <p:nvPr/>
        </p:nvSpPr>
        <p:spPr>
          <a:xfrm>
            <a:off x="6477000" y="7000875"/>
            <a:ext cx="34993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published, carbon-aware VCG rule beats or ties all 720 FCFS arrival orders on value net of carbon (19.2 vs. 16.96 mean),</a:t>
            </a:r>
          </a:p>
          <a:p>
            <a:pPr algn="l" latinLnBrk="0"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cuts emissions per unit of value (0.72 vs. 0.81 kg), and keeps truthful reporting optimal under C1 + C2 (own carbon charge, linear credit cost), but serves fewer teams (4 vs. 4.93).</a:t>
            </a:r>
          </a:p>
        </p:txBody>
      </p:sp>
      <p:sp>
        <p:nvSpPr>
          <p:cNvPr id="11" name="question-model-title">
            <a:extLst>
              <a:ext uri="{FF2B5EF4-FFF2-40B4-BE49-F238E27FC236}">
                <a16:creationId xmlns:a16="http://schemas.microsoft.com/office/drawing/2014/main" id="{CD5C4DFB-E23C-429C-B167-B9CF4889CB3B}"/>
              </a:ext>
            </a:extLst>
          </p:cNvPr>
          <p:cNvSpPr>
            <a:spLocks noGrp="1"/>
          </p:cNvSpPr>
          <p:nvPr/>
        </p:nvSpPr>
        <p:spPr>
          <a:xfrm>
            <a:off x="1333500" y="9525000"/>
            <a:ext cx="1104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01   Question &amp; model</a:t>
            </a:r>
          </a:p>
        </p:txBody>
      </p:sp>
      <p:sp>
        <p:nvSpPr>
          <p:cNvPr id="12" name="question-model-title-rule">
            <a:extLst>
              <a:ext uri="{FF2B5EF4-FFF2-40B4-BE49-F238E27FC236}">
                <a16:creationId xmlns:a16="http://schemas.microsoft.com/office/drawing/2014/main" id="{F81F4A35-5377-44CB-941D-4B8D9F26180B}"/>
              </a:ext>
            </a:extLst>
          </p:cNvPr>
          <p:cNvSpPr>
            <a:spLocks noGrp="1"/>
          </p:cNvSpPr>
          <p:nvPr/>
        </p:nvSpPr>
        <p:spPr>
          <a:xfrm>
            <a:off x="1333500" y="10506075"/>
            <a:ext cx="11049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13" name="research-question-heading">
            <a:extLst>
              <a:ext uri="{FF2B5EF4-FFF2-40B4-BE49-F238E27FC236}">
                <a16:creationId xmlns:a16="http://schemas.microsoft.com/office/drawing/2014/main" id="{4190E777-F9CF-4131-93FB-BBFC74FF79EA}"/>
              </a:ext>
            </a:extLst>
          </p:cNvPr>
          <p:cNvSpPr>
            <a:spLocks noGrp="1"/>
          </p:cNvSpPr>
          <p:nvPr/>
        </p:nvSpPr>
        <p:spPr>
          <a:xfrm>
            <a:off x="1333500" y="11146536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Setting &amp; verified gap</a:t>
            </a:r>
          </a:p>
        </p:txBody>
      </p:sp>
      <p:sp>
        <p:nvSpPr>
          <p:cNvPr id="14" name="research-question">
            <a:extLst>
              <a:ext uri="{FF2B5EF4-FFF2-40B4-BE49-F238E27FC236}">
                <a16:creationId xmlns:a16="http://schemas.microsoft.com/office/drawing/2014/main" id="{76FF89C4-3045-4C47-A236-4952EAA04A98}"/>
              </a:ext>
            </a:extLst>
          </p:cNvPr>
          <p:cNvSpPr>
            <a:spLocks noGrp="1"/>
          </p:cNvSpPr>
          <p:nvPr/>
        </p:nvSpPr>
        <p:spPr>
          <a:xfrm>
            <a:off x="1333500" y="11841480"/>
            <a:ext cx="110490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Setting: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university GPU queues ignore both project value and carbon.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Gap: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FAIR-Compute [5] shows value-blind rules lose about a third of value but leaves carbon and truthful mechanisms open. Truthful cloud auctions price server costs [6]; carbon-aware schedulers shift load without prices [7]. We build the missing rule at an exactly solvable scale.</a:t>
            </a:r>
          </a:p>
        </p:txBody>
      </p:sp>
      <p:sp>
        <p:nvSpPr>
          <p:cNvPr id="15" name="model-heading">
            <a:extLst>
              <a:ext uri="{FF2B5EF4-FFF2-40B4-BE49-F238E27FC236}">
                <a16:creationId xmlns:a16="http://schemas.microsoft.com/office/drawing/2014/main" id="{19910E6B-D44C-401D-8E76-04691CDB9EA9}"/>
              </a:ext>
            </a:extLst>
          </p:cNvPr>
          <p:cNvSpPr>
            <a:spLocks noGrp="1"/>
          </p:cNvSpPr>
          <p:nvPr/>
        </p:nvSpPr>
        <p:spPr>
          <a:xfrm>
            <a:off x="1333500" y="1431036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 dirty="0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Strategic model</a:t>
            </a:r>
          </a:p>
        </p:txBody>
      </p:sp>
      <p:sp>
        <p:nvSpPr>
          <p:cNvPr id="16" name="model">
            <a:extLst>
              <a:ext uri="{FF2B5EF4-FFF2-40B4-BE49-F238E27FC236}">
                <a16:creationId xmlns:a16="http://schemas.microsoft.com/office/drawing/2014/main" id="{BD93B7B7-C6A1-4C6C-8B07-9664A884A221}"/>
              </a:ext>
            </a:extLst>
          </p:cNvPr>
          <p:cNvSpPr>
            <a:spLocks noGrp="1"/>
          </p:cNvSpPr>
          <p:nvPr/>
        </p:nvSpPr>
        <p:spPr>
          <a:xfrm>
            <a:off x="1333500" y="14996159"/>
            <a:ext cx="11049000" cy="532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Players: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six teams A–F; each privately knows vᵢ ∈ {3, 6, 9} and sends one sealed report rᵢ (static game, incomplete information).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Public: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request dᵢ, emissions eᵢ = 0.24 dᵢ kg CO₂e, capacity K = 100, λ = 0.5.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Rule: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pick the feasible group S* maximizing Σ(rᵢ − λeᵢ) over all 64 groups; each winner pays the score the others lose (VCG) in credits.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Payoff: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uᵢ = vᵢ − λeᵢ − pᵢ if selected, else 0.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Solution: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truthful rᵢ = vᵢ is dominant (DSIC) [1–4] under C1 each winner pays its own carbon charge λeᵢ in credits, and C2 a charged credit has a linear opportunity cost (stated assumption). C3 checks feasibility: a fixed 100-credit budget per round, no top-ups; the largest spend, 60, fits in the tested cases.</a:t>
            </a:r>
          </a:p>
        </p:txBody>
      </p:sp>
      <p:sp>
        <p:nvSpPr>
          <p:cNvPr id="17" name="lenses-heading">
            <a:extLst>
              <a:ext uri="{FF2B5EF4-FFF2-40B4-BE49-F238E27FC236}">
                <a16:creationId xmlns:a16="http://schemas.microsoft.com/office/drawing/2014/main" id="{DAFBC93E-B2F0-417F-9381-A98FDF506C48}"/>
              </a:ext>
            </a:extLst>
          </p:cNvPr>
          <p:cNvSpPr>
            <a:spLocks noGrp="1"/>
          </p:cNvSpPr>
          <p:nvPr/>
        </p:nvSpPr>
        <p:spPr>
          <a:xfrm>
            <a:off x="1333500" y="2345436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Three lenses</a:t>
            </a:r>
          </a:p>
        </p:txBody>
      </p:sp>
      <p:sp>
        <p:nvSpPr>
          <p:cNvPr id="18" name="lenses">
            <a:extLst>
              <a:ext uri="{FF2B5EF4-FFF2-40B4-BE49-F238E27FC236}">
                <a16:creationId xmlns:a16="http://schemas.microsoft.com/office/drawing/2014/main" id="{E2BAF178-74E4-4DFF-A2BB-763467E733E6}"/>
              </a:ext>
            </a:extLst>
          </p:cNvPr>
          <p:cNvSpPr>
            <a:spLocks noGrp="1"/>
          </p:cNvSpPr>
          <p:nvPr/>
        </p:nvSpPr>
        <p:spPr>
          <a:xfrm>
            <a:off x="1333500" y="24140160"/>
            <a:ext cx="11049000" cy="2834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Game theory: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truthful reporting is each team's best strategy, whatever others report.</a:t>
            </a:r>
          </a:p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Social choice: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value net of carbon under capacity; the cost is fewer teams served (4 vs. 4.93).</a:t>
            </a:r>
          </a:p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Mechanism design: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 published score rule with VCG prices replaces the queue; λ moves prices, not the winners or the best strategy.</a:t>
            </a:r>
          </a:p>
        </p:txBody>
      </p:sp>
      <p:sp>
        <p:nvSpPr>
          <p:cNvPr id="19" name="auction-heading">
            <a:extLst>
              <a:ext uri="{FF2B5EF4-FFF2-40B4-BE49-F238E27FC236}">
                <a16:creationId xmlns:a16="http://schemas.microsoft.com/office/drawing/2014/main" id="{0A85FF4E-C110-48A1-8567-A06DAC93CC6E}"/>
              </a:ext>
            </a:extLst>
          </p:cNvPr>
          <p:cNvSpPr>
            <a:spLocks noGrp="1"/>
          </p:cNvSpPr>
          <p:nvPr/>
        </p:nvSpPr>
        <p:spPr>
          <a:xfrm>
            <a:off x="1333500" y="1990800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Named contributions</a:t>
            </a:r>
          </a:p>
        </p:txBody>
      </p:sp>
      <p:sp>
        <p:nvSpPr>
          <p:cNvPr id="20" name="auction">
            <a:extLst>
              <a:ext uri="{FF2B5EF4-FFF2-40B4-BE49-F238E27FC236}">
                <a16:creationId xmlns:a16="http://schemas.microsoft.com/office/drawing/2014/main" id="{182900A4-D41C-4FC8-8D3B-A44A8758AC89}"/>
              </a:ext>
            </a:extLst>
          </p:cNvPr>
          <p:cNvSpPr>
            <a:spLocks noGrp="1"/>
          </p:cNvSpPr>
          <p:nvPr/>
        </p:nvSpPr>
        <p:spPr>
          <a:xfrm>
            <a:off x="1333500" y="20556000"/>
            <a:ext cx="11049000" cy="280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Mustafa Ayub Khan: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framing and closest work; credit design C2 from his self-challenge; Practical Impacts and SDG targets; checks names in paper and poster.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Temur Akhtamjonov: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model and exact solver; FCFS–VCG comparison; GPU-type and measured-emission study; verifies revisions across artifacts.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Gihun Lee: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Space and notebook; λ sweep, two-pool and C3 budget checks; Figure 1 annotations, roadmap, two-page paper, Appendix D.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Joint: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question, model, and every artifact, reviewed by all three.</a:t>
            </a:r>
          </a:p>
        </p:txBody>
      </p:sp>
      <p:sp>
        <p:nvSpPr>
          <p:cNvPr id="21" name="design-evidence-title">
            <a:extLst>
              <a:ext uri="{FF2B5EF4-FFF2-40B4-BE49-F238E27FC236}">
                <a16:creationId xmlns:a16="http://schemas.microsoft.com/office/drawing/2014/main" id="{5BD8C5A5-8D38-4D0E-9168-5677F645D725}"/>
              </a:ext>
            </a:extLst>
          </p:cNvPr>
          <p:cNvSpPr>
            <a:spLocks noGrp="1"/>
          </p:cNvSpPr>
          <p:nvPr/>
        </p:nvSpPr>
        <p:spPr>
          <a:xfrm>
            <a:off x="13335000" y="9525000"/>
            <a:ext cx="16134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02   Design &amp; evidence</a:t>
            </a:r>
          </a:p>
        </p:txBody>
      </p:sp>
      <p:sp>
        <p:nvSpPr>
          <p:cNvPr id="22" name="design-evidence-title-rule">
            <a:extLst>
              <a:ext uri="{FF2B5EF4-FFF2-40B4-BE49-F238E27FC236}">
                <a16:creationId xmlns:a16="http://schemas.microsoft.com/office/drawing/2014/main" id="{3074EA74-1821-4014-8E91-ECC3F7A887C1}"/>
              </a:ext>
            </a:extLst>
          </p:cNvPr>
          <p:cNvSpPr>
            <a:spLocks noGrp="1"/>
          </p:cNvSpPr>
          <p:nvPr/>
        </p:nvSpPr>
        <p:spPr>
          <a:xfrm>
            <a:off x="13335000" y="10506075"/>
            <a:ext cx="16134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3" name="research-design-area">
            <a:extLst>
              <a:ext uri="{FF2B5EF4-FFF2-40B4-BE49-F238E27FC236}">
                <a16:creationId xmlns:a16="http://schemas.microsoft.com/office/drawing/2014/main" id="{6BFB0873-E93B-425C-B20A-BE7D9281AAB2}"/>
              </a:ext>
            </a:extLst>
          </p:cNvPr>
          <p:cNvSpPr>
            <a:spLocks noGrp="1"/>
          </p:cNvSpPr>
          <p:nvPr/>
        </p:nvSpPr>
        <p:spPr>
          <a:xfrm>
            <a:off x="13335000" y="11144250"/>
            <a:ext cx="16134000" cy="4667250"/>
          </a:xfrm>
          <a:prstGeom prst="rect">
            <a:avLst/>
          </a:prstGeom>
          <a:solidFill>
            <a:srgbClr val="F4F6F7"/>
          </a:solidFill>
          <a:ln w="19050">
            <a:solidFill>
              <a:srgbClr val="CFD5D9"/>
            </a:solidFill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6" name="design-caption">
            <a:extLst>
              <a:ext uri="{FF2B5EF4-FFF2-40B4-BE49-F238E27FC236}">
                <a16:creationId xmlns:a16="http://schemas.microsoft.com/office/drawing/2014/main" id="{70CF347C-1901-4936-A975-9657C3531241}"/>
              </a:ext>
            </a:extLst>
          </p:cNvPr>
          <p:cNvSpPr>
            <a:spLocks noGrp="1"/>
          </p:cNvSpPr>
          <p:nvPr/>
        </p:nvSpPr>
        <p:spPr>
          <a:xfrm>
            <a:off x="13335000" y="16097250"/>
            <a:ext cx="1613400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85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Figure 1. </a:t>
            </a:r>
            <a:r>
              <a:rPr sz="2400" b="0" dirty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Research questions and setting. Six teams request 120 GPU-hours from a pool of 100. Values are private; requests and emissions are public. Q1 and Q2 are answered by the model and its exact computation, Q3 by play in the Hugging Face Space.</a:t>
            </a:r>
          </a:p>
        </p:txBody>
      </p:sp>
      <p:sp>
        <p:nvSpPr>
          <p:cNvPr id="27" name="main-result-area">
            <a:extLst>
              <a:ext uri="{FF2B5EF4-FFF2-40B4-BE49-F238E27FC236}">
                <a16:creationId xmlns:a16="http://schemas.microsoft.com/office/drawing/2014/main" id="{AF352E9D-B9F1-4E49-9DC0-059C3E7F7E02}"/>
              </a:ext>
            </a:extLst>
          </p:cNvPr>
          <p:cNvSpPr>
            <a:spLocks noGrp="1"/>
          </p:cNvSpPr>
          <p:nvPr/>
        </p:nvSpPr>
        <p:spPr>
          <a:xfrm>
            <a:off x="13335000" y="17621250"/>
            <a:ext cx="16134000" cy="6286500"/>
          </a:xfrm>
          <a:prstGeom prst="rect">
            <a:avLst/>
          </a:prstGeom>
          <a:solidFill>
            <a:srgbClr val="F4F6F7"/>
          </a:solidFill>
          <a:ln w="19050">
            <a:solidFill>
              <a:srgbClr val="CFD5D9"/>
            </a:solidFill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30" name="result-caption">
            <a:extLst>
              <a:ext uri="{FF2B5EF4-FFF2-40B4-BE49-F238E27FC236}">
                <a16:creationId xmlns:a16="http://schemas.microsoft.com/office/drawing/2014/main" id="{C7A388AE-9A9C-4C69-A215-69F12E632900}"/>
              </a:ext>
            </a:extLst>
          </p:cNvPr>
          <p:cNvSpPr>
            <a:spLocks noGrp="1"/>
          </p:cNvSpPr>
          <p:nvPr/>
        </p:nvSpPr>
        <p:spPr>
          <a:xfrm>
            <a:off x="13335000" y="24241125"/>
            <a:ext cx="16134000" cy="3200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Figure 2.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FCFS outcomes across all 720 arrival orders vs. VCG (a, b), and Team C's utility for every report (c).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Result: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VCG picks A, B, D, E (value 30, 21.6 kg CO₂e); no FCFS order beats it, but FCFS serves more teams on average.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Parameter change: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for λ from 0.1 to 1 the same group wins and truth stays optimal; with two GPU pools emissions fall from 21.6 to 16.6 kg. Winners spend 48–54 of 100 credits.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Verification: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run_simulation.py reproduces the outputs; 8 unit tests pass; notebook 10/10 checks PASS; tested commit 2045024.</a:t>
            </a:r>
          </a:p>
        </p:txBody>
      </p:sp>
      <p:sp>
        <p:nvSpPr>
          <p:cNvPr id="31" name="impact-title">
            <a:extLst>
              <a:ext uri="{FF2B5EF4-FFF2-40B4-BE49-F238E27FC236}">
                <a16:creationId xmlns:a16="http://schemas.microsoft.com/office/drawing/2014/main" id="{7974BDE9-47C8-4976-9EB0-1D99D2AD436D}"/>
              </a:ext>
            </a:extLst>
          </p:cNvPr>
          <p:cNvSpPr>
            <a:spLocks noGrp="1"/>
          </p:cNvSpPr>
          <p:nvPr/>
        </p:nvSpPr>
        <p:spPr>
          <a:xfrm>
            <a:off x="30421500" y="9525000"/>
            <a:ext cx="1104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03   Impact &amp; dialogue</a:t>
            </a:r>
          </a:p>
        </p:txBody>
      </p:sp>
      <p:sp>
        <p:nvSpPr>
          <p:cNvPr id="32" name="impact-title-rule">
            <a:extLst>
              <a:ext uri="{FF2B5EF4-FFF2-40B4-BE49-F238E27FC236}">
                <a16:creationId xmlns:a16="http://schemas.microsoft.com/office/drawing/2014/main" id="{92EF0681-32CB-4E92-B477-91FDD7DB084E}"/>
              </a:ext>
            </a:extLst>
          </p:cNvPr>
          <p:cNvSpPr>
            <a:spLocks noGrp="1"/>
          </p:cNvSpPr>
          <p:nvPr/>
        </p:nvSpPr>
        <p:spPr>
          <a:xfrm>
            <a:off x="30421500" y="10506075"/>
            <a:ext cx="11049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33" name="real-world-heading">
            <a:extLst>
              <a:ext uri="{FF2B5EF4-FFF2-40B4-BE49-F238E27FC236}">
                <a16:creationId xmlns:a16="http://schemas.microsoft.com/office/drawing/2014/main" id="{8D7A544D-17E0-43AC-A769-0DC992E2E072}"/>
              </a:ext>
            </a:extLst>
          </p:cNvPr>
          <p:cNvSpPr>
            <a:spLocks noGrp="1"/>
          </p:cNvSpPr>
          <p:nvPr/>
        </p:nvSpPr>
        <p:spPr>
          <a:xfrm>
            <a:off x="30421500" y="11146536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Practical impact &amp; SDG targets</a:t>
            </a:r>
          </a:p>
        </p:txBody>
      </p:sp>
      <p:sp>
        <p:nvSpPr>
          <p:cNvPr id="34" name="real-world">
            <a:extLst>
              <a:ext uri="{FF2B5EF4-FFF2-40B4-BE49-F238E27FC236}">
                <a16:creationId xmlns:a16="http://schemas.microsoft.com/office/drawing/2014/main" id="{2199F087-3016-48E4-80F0-4F875A71FCDD}"/>
              </a:ext>
            </a:extLst>
          </p:cNvPr>
          <p:cNvSpPr>
            <a:spLocks noGrp="1"/>
          </p:cNvSpPr>
          <p:nvPr/>
        </p:nvSpPr>
        <p:spPr>
          <a:xfrm>
            <a:off x="31536000" y="11844000"/>
            <a:ext cx="9936000" cy="435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9.5 research capability: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value net of carbon 16.96 → 19.2 (simulation only).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9.4 resource efficiency: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0.81 → 0.72 kg CO₂e per value; 0.55 with two pools (simulation only).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13.3 institutional capacity: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published λ, fixed credit supply, re-runnable audit log (intended; no adoption).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Stakeholders: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research teams, cluster admins, the institution, the public.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Risk → safeguard: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heavy λ trades 9.5 for 9.4 → publish λ in advance from local carbon-price data (1.25 is only this instance's threshold); repeated exclusion → history-based credits (planned); credit inflation → fixed 100-credit budget, no top-ups (C3).</a:t>
            </a:r>
          </a:p>
        </p:txBody>
      </p:sp>
      <p:sp>
        <p:nvSpPr>
          <p:cNvPr id="35" name="interdisciplinary-heading">
            <a:extLst>
              <a:ext uri="{FF2B5EF4-FFF2-40B4-BE49-F238E27FC236}">
                <a16:creationId xmlns:a16="http://schemas.microsoft.com/office/drawing/2014/main" id="{1E996ED0-A32A-4617-8E65-E6ED026E62D8}"/>
              </a:ext>
            </a:extLst>
          </p:cNvPr>
          <p:cNvSpPr>
            <a:spLocks noGrp="1"/>
          </p:cNvSpPr>
          <p:nvPr/>
        </p:nvSpPr>
        <p:spPr>
          <a:xfrm>
            <a:off x="30421500" y="1632204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Behavioral evidence: five self-plays (exploratory)</a:t>
            </a:r>
          </a:p>
        </p:txBody>
      </p:sp>
      <p:sp>
        <p:nvSpPr>
          <p:cNvPr id="36" name="interdisciplinary">
            <a:extLst>
              <a:ext uri="{FF2B5EF4-FFF2-40B4-BE49-F238E27FC236}">
                <a16:creationId xmlns:a16="http://schemas.microsoft.com/office/drawing/2014/main" id="{91D1D813-AECB-4965-9667-285D2DDCB3E4}"/>
              </a:ext>
            </a:extLst>
          </p:cNvPr>
          <p:cNvSpPr>
            <a:spLocks noGrp="1"/>
          </p:cNvSpPr>
          <p:nvPr/>
        </p:nvSpPr>
        <p:spPr>
          <a:xfrm>
            <a:off x="30421500" y="19888200"/>
            <a:ext cx="11049000" cy="2743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Agreement: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no misreport paid off; one overreport bought a seat for 36 credits (u = −3.6).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Gap: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three of five overreported (wanting to win; misunderstanding). Reflections were blank; new plays will ask for a reason first.</a:t>
            </a:r>
          </a:p>
        </p:txBody>
      </p:sp>
      <p:sp>
        <p:nvSpPr>
          <p:cNvPr id="37" name="limits-heading">
            <a:extLst>
              <a:ext uri="{FF2B5EF4-FFF2-40B4-BE49-F238E27FC236}">
                <a16:creationId xmlns:a16="http://schemas.microsoft.com/office/drawing/2014/main" id="{68ADFBED-634F-4EFD-A437-EF921500A3B3}"/>
              </a:ext>
            </a:extLst>
          </p:cNvPr>
          <p:cNvSpPr>
            <a:spLocks noGrp="1"/>
          </p:cNvSpPr>
          <p:nvPr/>
        </p:nvSpPr>
        <p:spPr>
          <a:xfrm>
            <a:off x="30421500" y="2304288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Feedback, recognition &amp; roadmap</a:t>
            </a:r>
          </a:p>
        </p:txBody>
      </p:sp>
      <p:sp>
        <p:nvSpPr>
          <p:cNvPr id="38" name="limits">
            <a:extLst>
              <a:ext uri="{FF2B5EF4-FFF2-40B4-BE49-F238E27FC236}">
                <a16:creationId xmlns:a16="http://schemas.microsoft.com/office/drawing/2014/main" id="{B297720D-E873-4F17-88AF-AF30E5F69FD6}"/>
              </a:ext>
            </a:extLst>
          </p:cNvPr>
          <p:cNvSpPr>
            <a:spLocks noGrp="1"/>
          </p:cNvSpPr>
          <p:nvPr/>
        </p:nvSpPr>
        <p:spPr>
          <a:xfrm>
            <a:off x="30421500" y="23728680"/>
            <a:ext cx="11049000" cy="3703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Duet &amp; roundtable (Z. Wang, Q. (Aaron) Wang, FP8):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credits are not money → C1 + C2 stated, C3 checked; more GPU types → truth holds with 1 and 2 pools, more types next.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Instructor (Oct 14):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conditions beside the claim; two-page paper; SDG targets with evidence status.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Award: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Interdisciplinary Mechanism Design Award from FP8.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Roadmap: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Econ: credit value over 10 rounds, announcing λ [9]. CS: GPU types with measured emissions, history-based credits [8]. Behavior: reason-before-result study, n ≥ 30.</a:t>
            </a:r>
          </a:p>
        </p:txBody>
      </p:sp>
      <p:sp>
        <p:nvSpPr>
          <p:cNvPr id="40" name="footer-rule">
            <a:extLst>
              <a:ext uri="{FF2B5EF4-FFF2-40B4-BE49-F238E27FC236}">
                <a16:creationId xmlns:a16="http://schemas.microsoft.com/office/drawing/2014/main" id="{24CE48EC-E121-4C2A-81BE-8C70F6F42833}"/>
              </a:ext>
            </a:extLst>
          </p:cNvPr>
          <p:cNvSpPr>
            <a:spLocks noGrp="1"/>
          </p:cNvSpPr>
          <p:nvPr/>
        </p:nvSpPr>
        <p:spPr>
          <a:xfrm>
            <a:off x="1333500" y="27527250"/>
            <a:ext cx="40137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41" name="ack-heading">
            <a:extLst>
              <a:ext uri="{FF2B5EF4-FFF2-40B4-BE49-F238E27FC236}">
                <a16:creationId xmlns:a16="http://schemas.microsoft.com/office/drawing/2014/main" id="{CC1B0A45-EEBC-4636-8C8B-F880435533DE}"/>
              </a:ext>
            </a:extLst>
          </p:cNvPr>
          <p:cNvSpPr>
            <a:spLocks noGrp="1"/>
          </p:cNvSpPr>
          <p:nvPr/>
        </p:nvSpPr>
        <p:spPr>
          <a:xfrm>
            <a:off x="1333500" y="27813000"/>
            <a:ext cx="18720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Acknowledgments</a:t>
            </a:r>
          </a:p>
        </p:txBody>
      </p:sp>
      <p:sp>
        <p:nvSpPr>
          <p:cNvPr id="42" name="ack">
            <a:extLst>
              <a:ext uri="{FF2B5EF4-FFF2-40B4-BE49-F238E27FC236}">
                <a16:creationId xmlns:a16="http://schemas.microsoft.com/office/drawing/2014/main" id="{1C589FA2-42B8-4C7A-9C87-A446B7866781}"/>
              </a:ext>
            </a:extLst>
          </p:cNvPr>
          <p:cNvSpPr>
            <a:spLocks noGrp="1"/>
          </p:cNvSpPr>
          <p:nvPr/>
        </p:nvSpPr>
        <p:spPr>
          <a:xfrm>
            <a:off x="1333500" y="28479750"/>
            <a:ext cx="18720000" cy="1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We thank Prof. Luyao Zhang for PS1, PS2, the COMPSCI/ECON 206 workshops and her formal feedback; Prof. Kenneth S. (Ken) Rogerson for advice on each member's PS1, the foundation of our question; and Han Zhang for a question that made us state the research question more concretely. Duet partners Zhenning Wang and Qianshuo (Aaron) Wang (FP8) recommended our three closest papers, challenged our credit and GPU-type assumptions, and gave us an award. Symposium reviewers (Sept 28): Yiqiao Liu (FP10) and Qianshuo (Aaron) Wang (FP8), carbon weight; Zimu Zhou (FP11), GPU types; Xinrong Sun (FP9), truthfulness with the carbon charge; Yongzhuo Wu (FP1), play data; Zijie Wang (FP7), figure and gap; Muhan Chen (FP12), one instance. We acknowledge Tencent's Shanghai office, the Shanghai Science and Technology Museum, and the whole COMPSCI/ECON 206 classroom community. Data are synthetic; SDG icons are official UN icons. Software: Python, Jupyter, Google Colab, matplotlib, Hugging Face Spaces. AI: Claude Code (Claude Opus 5.5) assisted code, figures, and drafts (paper App. A.3); the authors are responsible for all content. Named a missing credit? Please open a GitHub issue.</a:t>
            </a:r>
          </a:p>
        </p:txBody>
      </p:sp>
      <p:sp>
        <p:nvSpPr>
          <p:cNvPr id="43" name="references-heading">
            <a:extLst>
              <a:ext uri="{FF2B5EF4-FFF2-40B4-BE49-F238E27FC236}">
                <a16:creationId xmlns:a16="http://schemas.microsoft.com/office/drawing/2014/main" id="{E7EA3AAE-744F-4F03-A737-D3056A093795}"/>
              </a:ext>
            </a:extLst>
          </p:cNvPr>
          <p:cNvSpPr>
            <a:spLocks noGrp="1"/>
          </p:cNvSpPr>
          <p:nvPr/>
        </p:nvSpPr>
        <p:spPr>
          <a:xfrm>
            <a:off x="20520000" y="27684000"/>
            <a:ext cx="11700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Selected references</a:t>
            </a:r>
          </a:p>
        </p:txBody>
      </p:sp>
      <p:sp>
        <p:nvSpPr>
          <p:cNvPr id="44" name="references">
            <a:extLst>
              <a:ext uri="{FF2B5EF4-FFF2-40B4-BE49-F238E27FC236}">
                <a16:creationId xmlns:a16="http://schemas.microsoft.com/office/drawing/2014/main" id="{0ECEF328-5F03-4179-A929-2458DB1F400F}"/>
              </a:ext>
            </a:extLst>
          </p:cNvPr>
          <p:cNvSpPr>
            <a:spLocks noGrp="1"/>
          </p:cNvSpPr>
          <p:nvPr/>
        </p:nvSpPr>
        <p:spPr>
          <a:xfrm>
            <a:off x="20520000" y="28260000"/>
            <a:ext cx="11700000" cy="187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[1] Vickrey (1961). J. Finance 16(1), 8–37. doi:10.1111/j.1540-6261.1961.tb02789.x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[2] Clarke (1971). Public Choice 11, 17–33. doi:10.1007/BF01726210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[3] Groves (1973). Econometrica 41(4), 617–631. doi:10.2307/1914085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[4] Harsanyi (1968). Mgmt. Sci. 14(5), 320–334. doi:10.1287/mnsc.14.5.320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[5] Zachariadis et al. (2026). FAIR-Compute. arXiv:2607.28290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[6] Zhang et al. (2015). Online auctions in IaaS clouds. SIGMETRICS, 3–15. doi:10.1145/2745844.2745855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[7] Radovanović et al. (2021). Carbon-aware computing for datacenters. arXiv:2106.11750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[8] Vuppalapati et al. (2023). Karma. USENIX OSDI, 645–662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[9] Royal Swedish Academy of Sciences (2026). Prize in Economic Sciences 2026 (Hall, Woodford)</a:t>
            </a:r>
          </a:p>
        </p:txBody>
      </p:sp>
      <p:sp>
        <p:nvSpPr>
          <p:cNvPr id="45" name="access-heading">
            <a:extLst>
              <a:ext uri="{FF2B5EF4-FFF2-40B4-BE49-F238E27FC236}">
                <a16:creationId xmlns:a16="http://schemas.microsoft.com/office/drawing/2014/main" id="{49F540C3-5DD7-4CE8-9BCD-20A72A498083}"/>
              </a:ext>
            </a:extLst>
          </p:cNvPr>
          <p:cNvSpPr>
            <a:spLocks noGrp="1"/>
          </p:cNvSpPr>
          <p:nvPr/>
        </p:nvSpPr>
        <p:spPr>
          <a:xfrm>
            <a:off x="32580000" y="27813000"/>
            <a:ext cx="612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4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OPEN MATERIALS</a:t>
            </a:r>
          </a:p>
        </p:txBody>
      </p:sp>
      <p:sp>
        <p:nvSpPr>
          <p:cNvPr id="46" name="access-links">
            <a:extLst>
              <a:ext uri="{FF2B5EF4-FFF2-40B4-BE49-F238E27FC236}">
                <a16:creationId xmlns:a16="http://schemas.microsoft.com/office/drawing/2014/main" id="{35C264DA-792D-48F7-AE3C-F21A5E9ADD8F}"/>
              </a:ext>
            </a:extLst>
          </p:cNvPr>
          <p:cNvSpPr>
            <a:spLocks noGrp="1"/>
          </p:cNvSpPr>
          <p:nvPr/>
        </p:nvSpPr>
        <p:spPr>
          <a:xfrm>
            <a:off x="32580000" y="28296000"/>
            <a:ext cx="6192000" cy="151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15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Hugging Face Space (left QR, commit dddebc7):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15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4"/>
              </a:rPr>
              <a:t>https://huggingface.co/spaces/dku-comsci-econ206-2026/PS2_Team_A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15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GitHub (right QR, tested commit 2045024):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15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11"/>
              </a:rPr>
              <a:t>https://github.com/dku-comsci-econ206-Autumn2026/FP05-PS2-Team-A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15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Colab notebook: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15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12"/>
              </a:rPr>
              <a:t>https://colab.research.google.com/drive/1xYtctTPKXDszHMjdOS7IVz-OByt4edlD</a:t>
            </a:r>
          </a:p>
        </p:txBody>
      </p:sp>
      <p:pic>
        <p:nvPicPr>
          <p:cNvPr id="68" name="main-result-figure" descr="fig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17880" y="17794986"/>
            <a:ext cx="15768240" cy="5958928"/>
          </a:xfrm>
          <a:prstGeom prst="rect">
            <a:avLst/>
          </a:prstGeom>
        </p:spPr>
      </p:pic>
      <p:pic>
        <p:nvPicPr>
          <p:cNvPr id="69" name="hf-qr-code" descr="qr_h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07720" y="28300680"/>
            <a:ext cx="1143000" cy="1143000"/>
          </a:xfrm>
          <a:prstGeom prst="rect">
            <a:avLst/>
          </a:prstGeom>
        </p:spPr>
      </p:pic>
      <p:sp>
        <p:nvSpPr>
          <p:cNvPr id="72" name="question-1"/>
          <p:cNvSpPr/>
          <p:nvPr/>
        </p:nvSpPr>
        <p:spPr>
          <a:xfrm>
            <a:off x="1369771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Q1  Economics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How should scarce GPU-hours be allocated for value net of carbon when teams can misreport their private value?</a:t>
            </a:r>
          </a:p>
        </p:txBody>
      </p:sp>
      <p:sp>
        <p:nvSpPr>
          <p:cNvPr id="73" name="question-2"/>
          <p:cNvSpPr/>
          <p:nvPr/>
        </p:nvSpPr>
        <p:spPr>
          <a:xfrm>
            <a:off x="1890979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Q2  Computation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Can an exactly solved multi-team VCG beat first come, first served and stay auditable?</a:t>
            </a:r>
          </a:p>
        </p:txBody>
      </p:sp>
      <p:sp>
        <p:nvSpPr>
          <p:cNvPr id="74" name="question-3"/>
          <p:cNvSpPr/>
          <p:nvPr/>
        </p:nvSpPr>
        <p:spPr>
          <a:xfrm>
            <a:off x="2412187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Q3  Behavior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Do people report truthfully and understand the rule?</a:t>
            </a:r>
          </a:p>
        </p:txBody>
      </p:sp>
      <p:sp>
        <p:nvSpPr>
          <p:cNvPr id="75" name="request-A"/>
          <p:cNvSpPr/>
          <p:nvPr/>
        </p:nvSpPr>
        <p:spPr>
          <a:xfrm>
            <a:off x="13697712" y="14374368"/>
            <a:ext cx="2363724" cy="77724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A · 25 h</a:t>
            </a:r>
          </a:p>
        </p:txBody>
      </p:sp>
      <p:sp>
        <p:nvSpPr>
          <p:cNvPr id="76" name="request-B"/>
          <p:cNvSpPr/>
          <p:nvPr/>
        </p:nvSpPr>
        <p:spPr>
          <a:xfrm>
            <a:off x="16098012" y="14374368"/>
            <a:ext cx="1883664" cy="777240"/>
          </a:xfrm>
          <a:prstGeom prst="rect">
            <a:avLst/>
          </a:prstGeom>
          <a:solidFill>
            <a:srgbClr val="4F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B · 20 h</a:t>
            </a:r>
          </a:p>
        </p:txBody>
      </p:sp>
      <p:sp>
        <p:nvSpPr>
          <p:cNvPr id="77" name="request-C"/>
          <p:cNvSpPr/>
          <p:nvPr/>
        </p:nvSpPr>
        <p:spPr>
          <a:xfrm>
            <a:off x="18018252" y="14374368"/>
            <a:ext cx="1403604" cy="777240"/>
          </a:xfrm>
          <a:prstGeom prst="rect">
            <a:avLst/>
          </a:prstGeom>
          <a:solidFill>
            <a:srgbClr val="BFD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212A33"/>
                </a:solidFill>
                <a:latin typeface="Calibri"/>
              </a:rPr>
              <a:t>C · 15 h</a:t>
            </a:r>
          </a:p>
        </p:txBody>
      </p:sp>
      <p:sp>
        <p:nvSpPr>
          <p:cNvPr id="78" name="request-D"/>
          <p:cNvSpPr/>
          <p:nvPr/>
        </p:nvSpPr>
        <p:spPr>
          <a:xfrm>
            <a:off x="19458432" y="14374368"/>
            <a:ext cx="2363724" cy="77724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D · 25 h</a:t>
            </a:r>
          </a:p>
        </p:txBody>
      </p:sp>
      <p:sp>
        <p:nvSpPr>
          <p:cNvPr id="79" name="request-E"/>
          <p:cNvSpPr/>
          <p:nvPr/>
        </p:nvSpPr>
        <p:spPr>
          <a:xfrm>
            <a:off x="21858732" y="14374368"/>
            <a:ext cx="1883664" cy="777240"/>
          </a:xfrm>
          <a:prstGeom prst="rect">
            <a:avLst/>
          </a:prstGeom>
          <a:solidFill>
            <a:srgbClr val="4F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E · 20 h</a:t>
            </a:r>
          </a:p>
        </p:txBody>
      </p:sp>
      <p:sp>
        <p:nvSpPr>
          <p:cNvPr id="80" name="request-F"/>
          <p:cNvSpPr/>
          <p:nvPr/>
        </p:nvSpPr>
        <p:spPr>
          <a:xfrm>
            <a:off x="23778972" y="14374368"/>
            <a:ext cx="1403604" cy="777240"/>
          </a:xfrm>
          <a:prstGeom prst="rect">
            <a:avLst/>
          </a:prstGeom>
          <a:solidFill>
            <a:srgbClr val="BFD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212A33"/>
                </a:solidFill>
                <a:latin typeface="Calibri"/>
              </a:rPr>
              <a:t>F · 15 h</a:t>
            </a:r>
          </a:p>
        </p:txBody>
      </p:sp>
      <p:sp>
        <p:nvSpPr>
          <p:cNvPr id="81" name="capacity-line"/>
          <p:cNvSpPr/>
          <p:nvPr/>
        </p:nvSpPr>
        <p:spPr>
          <a:xfrm>
            <a:off x="23271480" y="14026896"/>
            <a:ext cx="54864" cy="1344168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endParaRPr/>
          </a:p>
        </p:txBody>
      </p:sp>
      <p:sp>
        <p:nvSpPr>
          <p:cNvPr id="82" name="capacity-label"/>
          <p:cNvSpPr/>
          <p:nvPr/>
        </p:nvSpPr>
        <p:spPr>
          <a:xfrm>
            <a:off x="19915632" y="13825728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r" latinLnBrk="0"/>
            <a:r>
              <a:rPr sz="2200" b="1">
                <a:solidFill>
                  <a:srgbClr val="212A33"/>
                </a:solidFill>
                <a:latin typeface="Calibri"/>
              </a:rPr>
              <a:t>capacity K = 100 GPU-h</a:t>
            </a:r>
          </a:p>
        </p:txBody>
      </p:sp>
      <p:sp>
        <p:nvSpPr>
          <p:cNvPr id="83" name="overflow-label"/>
          <p:cNvSpPr/>
          <p:nvPr/>
        </p:nvSpPr>
        <p:spPr>
          <a:xfrm>
            <a:off x="25356311" y="14328648"/>
            <a:ext cx="365760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 latinLnBrk="0"/>
            <a:r>
              <a:rPr sz="2400" b="1">
                <a:solidFill>
                  <a:srgbClr val="C2410C"/>
                </a:solidFill>
                <a:latin typeface="Calibri"/>
              </a:rPr>
              <a:t>120 GPU-h requested:
who is left out?</a:t>
            </a:r>
          </a:p>
        </p:txBody>
      </p:sp>
      <p:sp>
        <p:nvSpPr>
          <p:cNvPr id="84" name="setting-legend"/>
          <p:cNvSpPr/>
          <p:nvPr/>
        </p:nvSpPr>
        <p:spPr>
          <a:xfrm>
            <a:off x="13697712" y="15243048"/>
            <a:ext cx="15361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 latinLnBrk="0"/>
            <a:r>
              <a:rPr sz="2100" b="0">
                <a:solidFill>
                  <a:srgbClr val="56616B"/>
                </a:solidFill>
                <a:latin typeface="Calibri"/>
              </a:rPr>
              <a:t>Block width = public request dᵢ.  Shade = private value vᵢ (dark 9, medium 6, light 3).  Emissions eᵢ = 0.24 dᵢ kg CO₂e;  λ = 0.5.</a:t>
            </a:r>
          </a:p>
        </p:txBody>
      </p:sp>
      <p:graphicFrame>
        <p:nvGraphicFramePr>
          <p:cNvPr id="85" name="plays-table"/>
          <p:cNvGraphicFramePr>
            <a:graphicFrameLocks noGrp="1"/>
          </p:cNvGraphicFramePr>
          <p:nvPr/>
        </p:nvGraphicFramePr>
        <p:xfrm>
          <a:off x="30422088" y="17007840"/>
          <a:ext cx="1104595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Observed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Truthful reports (r = v)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5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2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Overreports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Selection predicted correctly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3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Plays where a misreport raised utility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86" name="github-qr-cod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79320" y="28300680"/>
            <a:ext cx="1143000" cy="1143000"/>
          </a:xfrm>
          <a:prstGeom prst="rect">
            <a:avLst/>
          </a:prstGeom>
        </p:spPr>
      </p:pic>
      <p:pic>
        <p:nvPicPr>
          <p:cNvPr id="87" name="sdg-09-icon" descr="sdg_0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20000" y="11916000"/>
            <a:ext cx="936000" cy="936000"/>
          </a:xfrm>
          <a:prstGeom prst="rect">
            <a:avLst/>
          </a:prstGeom>
        </p:spPr>
      </p:pic>
      <p:pic>
        <p:nvPicPr>
          <p:cNvPr id="88" name="sdg-13-icon" descr="sdg_1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20000" y="12996000"/>
            <a:ext cx="936000" cy="936000"/>
          </a:xfrm>
          <a:prstGeom prst="rect">
            <a:avLst/>
          </a:prstGeom>
        </p:spPr>
      </p:pic>
      <p:pic>
        <p:nvPicPr>
          <p:cNvPr id="89" name="sdg-logo" descr="E_SDG_logo_horizontal_PRINT_Transparen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991750" y="4966568"/>
            <a:ext cx="4680000" cy="855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9821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1736</Words>
  <Application>Microsoft Macintosh PowerPoint</Application>
  <DocSecurity>0</DocSecurity>
  <PresentationFormat>사용자 지정</PresentationFormat>
  <Paragraphs>104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Calibri</vt:lpstr>
      <vt:lpstr>ChatGPT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Gihun Lee</cp:lastModifiedBy>
  <cp:revision>7</cp:revision>
  <dcterms:created xsi:type="dcterms:W3CDTF">2026-09-21T06:28:50Z</dcterms:created>
  <dcterms:modified xsi:type="dcterms:W3CDTF">2026-10-05T15:29:41Z</dcterms:modified>
</cp:coreProperties>
</file>