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42803763" cy="3027521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06"/>
  </p:normalViewPr>
  <p:slideViewPr>
    <p:cSldViewPr snapToGrid="0">
      <p:cViewPr>
        <p:scale>
          <a:sx n="66" d="100"/>
          <a:sy n="66" d="100"/>
        </p:scale>
        <p:origin x="-5336" y="-6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COMSCI/ECON 206 PS2 clean A0 poster template.</a:t>
            </a:r>
          </a:p>
          <a:p>
            <a:r>
              <a:t>Brand guide: https://dku-web-admissions.s3.cn-north-1.amazonaws.com.cn/dkumain/wp-content/uploads/mainsite/2022/05/brand-guide-compressed_2021.pdf, linked from https://www.dukekunshan.edu.cn/media/. Guide pp. 5, 6, 12, 14, and 15 establish logo clear space/proportions, unchanged logo artwork, application colors #003399 and #006633 plus white, and Calibri as the office system font when InterstatePlus cannot be used. Official logo asset: https://www.dukekunshan.edu.cn/wp-content/uploads/2021/08/large_dku-Logo.png.</a:t>
            </a:r>
          </a:p>
          <a:p>
            <a:r>
              <a:t>Calibri is specified in the editable PowerPoint. The exported PDF uses Carlito, a metric-compatible open-source substitute because Calibri is unavailable in the export environment. Re-export from PowerPoint with Calibri for institution-font-exact output.</a:t>
            </a:r>
          </a:p>
          <a:p>
            <a:r>
              <a:t>Clean and annotated versions share all element positions. Keep A0 landscape 1189 x 841 mm, 100% print scale. Text and figure/QR placeholders are editable; preserve the embedded logo unchanged and keep at least half its height as clear space. Instructor belongs below authors, not in the author list. Replace all placeholders with actual work; distinguish observed results, inferences, and planned tests. QR codes are optional but full public URLs and tested access are required. References must be full and traceable; acknowledgments must name actual contributions and AI assistance. Sep 28: symposium, peer evaluation and real-world case impacts. Sep 30: final update. The PS1-style paper, LaTeX, and learning pathway are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hyperlink" Target="https://github.com/GihoonE/COMPSCI206-PS2" TargetMode="External"/><Relationship Id="rId4" Type="http://schemas.openxmlformats.org/officeDocument/2006/relationships/hyperlink" Target="https://huggingface.co/spaces/dku-comsci-econ206-2026/PS2_Team_A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top-brand-rule">
            <a:extLst>
              <a:ext uri="{FF2B5EF4-FFF2-40B4-BE49-F238E27FC236}">
                <a16:creationId xmlns:a16="http://schemas.microsoft.com/office/drawing/2014/main" id="{FDACD238-30EA-433B-B9A8-2AB270625A8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2804000" cy="228600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course-line">
            <a:extLst>
              <a:ext uri="{FF2B5EF4-FFF2-40B4-BE49-F238E27FC236}">
                <a16:creationId xmlns:a16="http://schemas.microsoft.com/office/drawing/2014/main" id="{5806B552-CE06-4C40-BA14-45983C2DB289}"/>
              </a:ext>
            </a:extLst>
          </p:cNvPr>
          <p:cNvSpPr>
            <a:spLocks noGrp="1"/>
          </p:cNvSpPr>
          <p:nvPr/>
        </p:nvSpPr>
        <p:spPr>
          <a:xfrm>
            <a:off x="1333500" y="781050"/>
            <a:ext cx="288607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7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7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COMSCI / ECON 206   |   PS2 RESEARCH SYMPOSIUM   |   FALL 2026</a:t>
            </a:r>
          </a:p>
        </p:txBody>
      </p:sp>
      <p:sp>
        <p:nvSpPr>
          <p:cNvPr id="3" name="version">
            <a:extLst>
              <a:ext uri="{FF2B5EF4-FFF2-40B4-BE49-F238E27FC236}">
                <a16:creationId xmlns:a16="http://schemas.microsoft.com/office/drawing/2014/main" id="{05588AA4-5EDB-4475-A143-90877DB14160}"/>
              </a:ext>
            </a:extLst>
          </p:cNvPr>
          <p:cNvSpPr>
            <a:spLocks noGrp="1"/>
          </p:cNvSpPr>
          <p:nvPr/>
        </p:nvSpPr>
        <p:spPr>
          <a:xfrm>
            <a:off x="31623000" y="6153150"/>
            <a:ext cx="9810750" cy="3714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r">
              <a:defRPr sz="210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REVIEW-READY v1  ·  SEP 27, 2026</a:t>
            </a:r>
          </a:p>
        </p:txBody>
      </p:sp>
      <p:sp>
        <p:nvSpPr>
          <p:cNvPr id="4" name="project-title">
            <a:extLst>
              <a:ext uri="{FF2B5EF4-FFF2-40B4-BE49-F238E27FC236}">
                <a16:creationId xmlns:a16="http://schemas.microsoft.com/office/drawing/2014/main" id="{B66A5B7F-804A-4F30-B6A0-3C5C2AB4C437}"/>
              </a:ext>
            </a:extLst>
          </p:cNvPr>
          <p:cNvSpPr>
            <a:spLocks noGrp="1"/>
          </p:cNvSpPr>
          <p:nvPr/>
        </p:nvSpPr>
        <p:spPr>
          <a:xfrm>
            <a:off x="1333500" y="1733550"/>
            <a:ext cx="29146500" cy="26193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Can a carbon-aware VCG rule allocate shared</a:t>
            </a:r>
          </a:p>
          <a:p>
            <a:pPr algn="l">
              <a:defRPr sz="94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86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GPU-hours better than first come, first served?</a:t>
            </a:r>
          </a:p>
        </p:txBody>
      </p:sp>
      <p:sp>
        <p:nvSpPr>
          <p:cNvPr id="5" name="authors">
            <a:extLst>
              <a:ext uri="{FF2B5EF4-FFF2-40B4-BE49-F238E27FC236}">
                <a16:creationId xmlns:a16="http://schemas.microsoft.com/office/drawing/2014/main" id="{439A7EDB-36D0-4D9A-9F53-6704B96A144F}"/>
              </a:ext>
            </a:extLst>
          </p:cNvPr>
          <p:cNvSpPr>
            <a:spLocks noGrp="1"/>
          </p:cNvSpPr>
          <p:nvPr/>
        </p:nvSpPr>
        <p:spPr>
          <a:xfrm>
            <a:off x="1333500" y="4457700"/>
            <a:ext cx="28575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4050" b="1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4050" b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Mustafa Ayub Khan, Temur Akhtamjonov, Gihun Lee  |  Team FP5</a:t>
            </a:r>
          </a:p>
        </p:txBody>
      </p:sp>
      <p:sp>
        <p:nvSpPr>
          <p:cNvPr id="6" name="course-instructor">
            <a:extLst>
              <a:ext uri="{FF2B5EF4-FFF2-40B4-BE49-F238E27FC236}">
                <a16:creationId xmlns:a16="http://schemas.microsoft.com/office/drawing/2014/main" id="{E0620329-B4C6-41DE-A2DD-7C1BAB05722F}"/>
              </a:ext>
            </a:extLst>
          </p:cNvPr>
          <p:cNvSpPr>
            <a:spLocks noGrp="1"/>
          </p:cNvSpPr>
          <p:nvPr/>
        </p:nvSpPr>
        <p:spPr>
          <a:xfrm>
            <a:off x="1333500" y="5229225"/>
            <a:ext cx="2857500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0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30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Course instructor: Professor Luyao Zhang</a:t>
            </a:r>
          </a:p>
        </p:txBody>
      </p:sp>
      <p:pic>
        <p:nvPicPr>
          <p:cNvPr id="58" name="그림 57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32575500" y="2190750"/>
            <a:ext cx="8096250" cy="2595818"/>
          </a:xfrm>
          <a:prstGeom prst="rect">
            <a:avLst/>
          </a:prstGeom>
        </p:spPr>
      </p:pic>
      <p:sp>
        <p:nvSpPr>
          <p:cNvPr id="8" name="takeaway-band">
            <a:extLst>
              <a:ext uri="{FF2B5EF4-FFF2-40B4-BE49-F238E27FC236}">
                <a16:creationId xmlns:a16="http://schemas.microsoft.com/office/drawing/2014/main" id="{E5C59819-8AE8-4F07-93AA-7B6F5A9A66D5}"/>
              </a:ext>
            </a:extLst>
          </p:cNvPr>
          <p:cNvSpPr>
            <a:spLocks noGrp="1"/>
          </p:cNvSpPr>
          <p:nvPr/>
        </p:nvSpPr>
        <p:spPr>
          <a:xfrm>
            <a:off x="0" y="6572250"/>
            <a:ext cx="42804000" cy="2143125"/>
          </a:xfrm>
          <a:prstGeom prst="rect">
            <a:avLst/>
          </a:prstGeom>
          <a:solidFill>
            <a:srgbClr val="003399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akeaway-label">
            <a:extLst>
              <a:ext uri="{FF2B5EF4-FFF2-40B4-BE49-F238E27FC236}">
                <a16:creationId xmlns:a16="http://schemas.microsoft.com/office/drawing/2014/main" id="{701690AD-D64E-4607-AE56-414773E6FFD1}"/>
              </a:ext>
            </a:extLst>
          </p:cNvPr>
          <p:cNvSpPr>
            <a:spLocks noGrp="1"/>
          </p:cNvSpPr>
          <p:nvPr/>
        </p:nvSpPr>
        <p:spPr>
          <a:xfrm>
            <a:off x="1333500" y="7239000"/>
            <a:ext cx="4667250" cy="619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 MESSAGE</a:t>
            </a:r>
          </a:p>
        </p:txBody>
      </p:sp>
      <p:sp>
        <p:nvSpPr>
          <p:cNvPr id="10" name="takeaway">
            <a:extLst>
              <a:ext uri="{FF2B5EF4-FFF2-40B4-BE49-F238E27FC236}">
                <a16:creationId xmlns:a16="http://schemas.microsoft.com/office/drawing/2014/main" id="{83EFFE95-83CD-498B-99EF-83DF06C3C922}"/>
              </a:ext>
            </a:extLst>
          </p:cNvPr>
          <p:cNvSpPr>
            <a:spLocks noGrp="1"/>
          </p:cNvSpPr>
          <p:nvPr/>
        </p:nvSpPr>
        <p:spPr>
          <a:xfrm>
            <a:off x="6477000" y="7000875"/>
            <a:ext cx="34993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published, carbon-aware VCG rule </a:t>
            </a:r>
            <a:r>
              <a:rPr lang="en"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beats or ties a</a:t>
            </a:r>
            <a:r>
              <a:rPr sz="3600" b="1" dirty="0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ll</a:t>
            </a: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720 FCFS arrival orders on value net of carbon (19.2 vs. 16.96 mean),</a:t>
            </a:r>
          </a:p>
          <a:p>
            <a:pPr algn="l">
              <a:defRPr sz="44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600" b="1" dirty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cuts emissions per unit of value (0.72 vs. 0.81 kg), and keeps truthful reporting optimal, but serves fewer teams (4 vs. 4.93).</a:t>
            </a:r>
          </a:p>
        </p:txBody>
      </p:sp>
      <p:sp>
        <p:nvSpPr>
          <p:cNvPr id="11" name="question-model-title">
            <a:extLst>
              <a:ext uri="{FF2B5EF4-FFF2-40B4-BE49-F238E27FC236}">
                <a16:creationId xmlns:a16="http://schemas.microsoft.com/office/drawing/2014/main" id="{CD5C4DFB-E23C-429C-B167-B9CF4889CB3B}"/>
              </a:ext>
            </a:extLst>
          </p:cNvPr>
          <p:cNvSpPr>
            <a:spLocks noGrp="1"/>
          </p:cNvSpPr>
          <p:nvPr/>
        </p:nvSpPr>
        <p:spPr>
          <a:xfrm>
            <a:off x="1333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01   Question &amp; model</a:t>
            </a:r>
          </a:p>
        </p:txBody>
      </p:sp>
      <p:sp>
        <p:nvSpPr>
          <p:cNvPr id="12" name="question-model-title-rule">
            <a:extLst>
              <a:ext uri="{FF2B5EF4-FFF2-40B4-BE49-F238E27FC236}">
                <a16:creationId xmlns:a16="http://schemas.microsoft.com/office/drawing/2014/main" id="{F81F4A35-5377-44CB-941D-4B8D9F26180B}"/>
              </a:ext>
            </a:extLst>
          </p:cNvPr>
          <p:cNvSpPr>
            <a:spLocks noGrp="1"/>
          </p:cNvSpPr>
          <p:nvPr/>
        </p:nvSpPr>
        <p:spPr>
          <a:xfrm>
            <a:off x="1333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research-question-heading">
            <a:extLst>
              <a:ext uri="{FF2B5EF4-FFF2-40B4-BE49-F238E27FC236}">
                <a16:creationId xmlns:a16="http://schemas.microsoft.com/office/drawing/2014/main" id="{4190E777-F9CF-4131-93FB-BBFC74FF79EA}"/>
              </a:ext>
            </a:extLst>
          </p:cNvPr>
          <p:cNvSpPr>
            <a:spLocks noGrp="1"/>
          </p:cNvSpPr>
          <p:nvPr/>
        </p:nvSpPr>
        <p:spPr>
          <a:xfrm>
            <a:off x="1333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Research question &amp; verified gap</a:t>
            </a:r>
          </a:p>
        </p:txBody>
      </p:sp>
      <p:sp>
        <p:nvSpPr>
          <p:cNvPr id="14" name="research-question">
            <a:extLst>
              <a:ext uri="{FF2B5EF4-FFF2-40B4-BE49-F238E27FC236}">
                <a16:creationId xmlns:a16="http://schemas.microsoft.com/office/drawing/2014/main" id="{76FF89C4-3045-4C47-A236-4952EAA04A98}"/>
              </a:ext>
            </a:extLst>
          </p:cNvPr>
          <p:cNvSpPr>
            <a:spLocks noGrp="1"/>
          </p:cNvSpPr>
          <p:nvPr/>
        </p:nvSpPr>
        <p:spPr>
          <a:xfrm>
            <a:off x="1333500" y="11886438"/>
            <a:ext cx="11049000" cy="3078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How should a university allocate scarce shared GPU-hours when each team privately knows its project value, but requests and emissions are public?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Setting: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AI demand outpaces compute budgets; queues ignore both value and carbon. Stakeholders: research teams, cluster administrators, the public.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Gap: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FAIR-Compute [5] studies fair, efficient allocation of federated research compute. We add an exactly solved VCG rule with carbon in the objective, plus a public audit.</a:t>
            </a:r>
          </a:p>
        </p:txBody>
      </p:sp>
      <p:sp>
        <p:nvSpPr>
          <p:cNvPr id="15" name="model-heading">
            <a:extLst>
              <a:ext uri="{FF2B5EF4-FFF2-40B4-BE49-F238E27FC236}">
                <a16:creationId xmlns:a16="http://schemas.microsoft.com/office/drawing/2014/main" id="{19910E6B-D44C-401D-8E76-04691CDB9EA9}"/>
              </a:ext>
            </a:extLst>
          </p:cNvPr>
          <p:cNvSpPr>
            <a:spLocks noGrp="1"/>
          </p:cNvSpPr>
          <p:nvPr/>
        </p:nvSpPr>
        <p:spPr>
          <a:xfrm>
            <a:off x="1333500" y="15330678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 dirty="0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Strategic model &amp; foundations</a:t>
            </a:r>
          </a:p>
        </p:txBody>
      </p:sp>
      <p:sp>
        <p:nvSpPr>
          <p:cNvPr id="16" name="model">
            <a:extLst>
              <a:ext uri="{FF2B5EF4-FFF2-40B4-BE49-F238E27FC236}">
                <a16:creationId xmlns:a16="http://schemas.microsoft.com/office/drawing/2014/main" id="{BD93B7B7-C6A1-4C6C-8B07-9664A884A221}"/>
              </a:ext>
            </a:extLst>
          </p:cNvPr>
          <p:cNvSpPr>
            <a:spLocks noGrp="1"/>
          </p:cNvSpPr>
          <p:nvPr/>
        </p:nvSpPr>
        <p:spPr>
          <a:xfrm>
            <a:off x="1333500" y="16070580"/>
            <a:ext cx="11049000" cy="3230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six teams A–F; each reports rᵢ of its private value vᵢ ∈ </a:t>
            </a:r>
            <a:r>
              <a:rPr lang="en-US" altLang="ko-KR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</a:t>
            </a:r>
            <a:r>
              <a:rPr lang="en-US" altLang="ko-KR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altLang="ko-KR"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10]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GPU request dᵢ, emissions eᵢ = 0.24 dᵢ kg CO₂, capacity K = 100, carbon weight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= 0.5.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Timing: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one simultaneous sealed report (static, incomplete information).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Payoff: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uᵢ = vᵢ −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λe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ᵢ − pᵢ if selected, else 0.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Solution: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truthful rᵢ = vᵢ is dominant (DSIC, so also BNE) [1–4], because each team bears its own carbon penalty.</a:t>
            </a:r>
          </a:p>
        </p:txBody>
      </p:sp>
      <p:sp>
        <p:nvSpPr>
          <p:cNvPr id="17" name="lenses-heading">
            <a:extLst>
              <a:ext uri="{FF2B5EF4-FFF2-40B4-BE49-F238E27FC236}">
                <a16:creationId xmlns:a16="http://schemas.microsoft.com/office/drawing/2014/main" id="{DAFBC93E-B2F0-417F-9381-A98FDF506C48}"/>
              </a:ext>
            </a:extLst>
          </p:cNvPr>
          <p:cNvSpPr>
            <a:spLocks noGrp="1"/>
          </p:cNvSpPr>
          <p:nvPr/>
        </p:nvSpPr>
        <p:spPr>
          <a:xfrm>
            <a:off x="1333500" y="1966722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Three complementary lenses</a:t>
            </a:r>
          </a:p>
        </p:txBody>
      </p:sp>
      <p:sp>
        <p:nvSpPr>
          <p:cNvPr id="18" name="lenses">
            <a:extLst>
              <a:ext uri="{FF2B5EF4-FFF2-40B4-BE49-F238E27FC236}">
                <a16:creationId xmlns:a16="http://schemas.microsoft.com/office/drawing/2014/main" id="{E2BAF178-74E4-4DFF-A2BB-763467E733E6}"/>
              </a:ext>
            </a:extLst>
          </p:cNvPr>
          <p:cNvSpPr>
            <a:spLocks noGrp="1"/>
          </p:cNvSpPr>
          <p:nvPr/>
        </p:nvSpPr>
        <p:spPr>
          <a:xfrm>
            <a:off x="1333500" y="20407122"/>
            <a:ext cx="11049000" cy="3078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Game theory: </a:t>
            </a:r>
            <a:r>
              <a:rPr lang="en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Teams cannot benefit by lying about their value, so truthful reporting is the best strategy. </a:t>
            </a:r>
            <a:endParaRPr sz="2500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altLang="ko-KR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Social choice: </a:t>
            </a:r>
            <a:r>
              <a:rPr lang="en" altLang="ko-KR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We choose the set of teams that gives the highest total benefit while accounting for limited GPU capacity and carbon costs.</a:t>
            </a:r>
            <a:endParaRPr sz="2500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  <a:p>
            <a:pPr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altLang="ko-KR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Mechanism design: </a:t>
            </a:r>
            <a:r>
              <a:rPr lang="en" altLang="ko-KR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Instead of first-come-first-served, we use a transparent scoring rule and VCG payments. Changing the carbon weight changes which teams receive GPUs.</a:t>
            </a:r>
            <a:endParaRPr sz="2500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19" name="auction-heading">
            <a:extLst>
              <a:ext uri="{FF2B5EF4-FFF2-40B4-BE49-F238E27FC236}">
                <a16:creationId xmlns:a16="http://schemas.microsoft.com/office/drawing/2014/main" id="{0A85FF4E-C110-48A1-8567-A06DAC93CC6E}"/>
              </a:ext>
            </a:extLst>
          </p:cNvPr>
          <p:cNvSpPr>
            <a:spLocks noGrp="1"/>
          </p:cNvSpPr>
          <p:nvPr/>
        </p:nvSpPr>
        <p:spPr>
          <a:xfrm>
            <a:off x="1333500" y="23851362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Auction or allocation comparison</a:t>
            </a:r>
          </a:p>
        </p:txBody>
      </p:sp>
      <p:sp>
        <p:nvSpPr>
          <p:cNvPr id="20" name="auction">
            <a:extLst>
              <a:ext uri="{FF2B5EF4-FFF2-40B4-BE49-F238E27FC236}">
                <a16:creationId xmlns:a16="http://schemas.microsoft.com/office/drawing/2014/main" id="{182900A4-D41C-4FC8-8D3B-A44A8758AC89}"/>
              </a:ext>
            </a:extLst>
          </p:cNvPr>
          <p:cNvSpPr>
            <a:spLocks noGrp="1"/>
          </p:cNvSpPr>
          <p:nvPr/>
        </p:nvSpPr>
        <p:spPr>
          <a:xfrm>
            <a:off x="1333500" y="24464772"/>
            <a:ext cx="11049000" cy="27736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Resource: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100 GPU-hours; private values vᵢ; sealed value reports rᵢ.</a:t>
            </a:r>
          </a:p>
          <a:p>
            <a:pPr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lang="en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Rules: </a:t>
            </a:r>
            <a:r>
              <a:rPr lang="en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choose the feasible group S* maximizing </a:t>
            </a:r>
            <a:r>
              <a:rPr lang="el-GR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Σ(</a:t>
            </a:r>
            <a:r>
              <a:rPr lang="en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rᵢ − </a:t>
            </a:r>
            <a:r>
              <a:rPr lang="el-GR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lang="en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eᵢ) over all 64 groups; each winner pays pᵢ = W*₋ᵢ − (sum of the other winners' scores), where W*₋ᵢ is the best total without </a:t>
            </a:r>
            <a:r>
              <a:rPr lang="en" sz="250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(×10 credits); one round.</a:t>
            </a:r>
            <a:endParaRPr sz="2500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Compared: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random-order FCFS (all 720 orders) vs. carbon-aware VCG.</a:t>
            </a:r>
          </a:p>
          <a:p>
            <a:pPr algn="l" latinLnBrk="0">
              <a:spcAft>
                <a:spcPts val="600"/>
              </a:spcAft>
              <a:defRPr sz="315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Analogy stops: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are non-transferable, values cannot be verified, and exact search does not scale.</a:t>
            </a:r>
          </a:p>
        </p:txBody>
      </p:sp>
      <p:sp>
        <p:nvSpPr>
          <p:cNvPr id="21" name="design-evidence-title">
            <a:extLst>
              <a:ext uri="{FF2B5EF4-FFF2-40B4-BE49-F238E27FC236}">
                <a16:creationId xmlns:a16="http://schemas.microsoft.com/office/drawing/2014/main" id="{5BD8C5A5-8D38-4D0E-9168-5677F645D725}"/>
              </a:ext>
            </a:extLst>
          </p:cNvPr>
          <p:cNvSpPr>
            <a:spLocks noGrp="1"/>
          </p:cNvSpPr>
          <p:nvPr/>
        </p:nvSpPr>
        <p:spPr>
          <a:xfrm>
            <a:off x="13335000" y="9525000"/>
            <a:ext cx="16134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02   Design &amp; evidence</a:t>
            </a:r>
          </a:p>
        </p:txBody>
      </p:sp>
      <p:sp>
        <p:nvSpPr>
          <p:cNvPr id="22" name="design-evidence-title-rule">
            <a:extLst>
              <a:ext uri="{FF2B5EF4-FFF2-40B4-BE49-F238E27FC236}">
                <a16:creationId xmlns:a16="http://schemas.microsoft.com/office/drawing/2014/main" id="{3074EA74-1821-4014-8E91-ECC3F7A887C1}"/>
              </a:ext>
            </a:extLst>
          </p:cNvPr>
          <p:cNvSpPr>
            <a:spLocks noGrp="1"/>
          </p:cNvSpPr>
          <p:nvPr/>
        </p:nvSpPr>
        <p:spPr>
          <a:xfrm>
            <a:off x="13335000" y="10506075"/>
            <a:ext cx="16134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research-design-area">
            <a:extLst>
              <a:ext uri="{FF2B5EF4-FFF2-40B4-BE49-F238E27FC236}">
                <a16:creationId xmlns:a16="http://schemas.microsoft.com/office/drawing/2014/main" id="{6BFB0873-E93B-425C-B20A-BE7D9281AAB2}"/>
              </a:ext>
            </a:extLst>
          </p:cNvPr>
          <p:cNvSpPr>
            <a:spLocks noGrp="1"/>
          </p:cNvSpPr>
          <p:nvPr/>
        </p:nvSpPr>
        <p:spPr>
          <a:xfrm>
            <a:off x="13335000" y="11144250"/>
            <a:ext cx="16134000" cy="466725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design-caption">
            <a:extLst>
              <a:ext uri="{FF2B5EF4-FFF2-40B4-BE49-F238E27FC236}">
                <a16:creationId xmlns:a16="http://schemas.microsoft.com/office/drawing/2014/main" id="{70CF347C-1901-4936-A975-9657C3531241}"/>
              </a:ext>
            </a:extLst>
          </p:cNvPr>
          <p:cNvSpPr>
            <a:spLocks noGrp="1"/>
          </p:cNvSpPr>
          <p:nvPr/>
        </p:nvSpPr>
        <p:spPr>
          <a:xfrm>
            <a:off x="13335000" y="16097250"/>
            <a:ext cx="16134000" cy="1190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defRPr sz="28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Figure 1. </a:t>
            </a:r>
            <a:r>
              <a:rPr sz="2400" b="0" dirty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Research design. Tested (computed): exact VCG over all 64 groups vs. random-order FCFS over all 720 orders, and a misreport sweep for every team. Planned: classroom Hugging Face play recording reports, predictions, and reflections.</a:t>
            </a:r>
          </a:p>
        </p:txBody>
      </p:sp>
      <p:sp>
        <p:nvSpPr>
          <p:cNvPr id="27" name="main-result-area">
            <a:extLst>
              <a:ext uri="{FF2B5EF4-FFF2-40B4-BE49-F238E27FC236}">
                <a16:creationId xmlns:a16="http://schemas.microsoft.com/office/drawing/2014/main" id="{AF352E9D-B9F1-4E49-9DC0-059C3E7F7E02}"/>
              </a:ext>
            </a:extLst>
          </p:cNvPr>
          <p:cNvSpPr>
            <a:spLocks noGrp="1"/>
          </p:cNvSpPr>
          <p:nvPr/>
        </p:nvSpPr>
        <p:spPr>
          <a:xfrm>
            <a:off x="13335000" y="17621250"/>
            <a:ext cx="16134000" cy="6286500"/>
          </a:xfrm>
          <a:prstGeom prst="rect">
            <a:avLst/>
          </a:prstGeom>
          <a:solidFill>
            <a:srgbClr val="F4F6F7"/>
          </a:solidFill>
          <a:ln w="19050">
            <a:solidFill>
              <a:srgbClr val="CFD5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result-caption">
            <a:extLst>
              <a:ext uri="{FF2B5EF4-FFF2-40B4-BE49-F238E27FC236}">
                <a16:creationId xmlns:a16="http://schemas.microsoft.com/office/drawing/2014/main" id="{C7A388AE-9A9C-4C69-A215-69F12E632900}"/>
              </a:ext>
            </a:extLst>
          </p:cNvPr>
          <p:cNvSpPr>
            <a:spLocks noGrp="1"/>
          </p:cNvSpPr>
          <p:nvPr/>
        </p:nvSpPr>
        <p:spPr>
          <a:xfrm>
            <a:off x="13335000" y="24241125"/>
            <a:ext cx="16134000" cy="2714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Figure 2.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FCFS outcomes across all 720 arrival orders vs. VCG (a, b), and Team C's utility for every report (c).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Interpretation: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VCG picks the highest-value, lowest-carbon group (A, B, D, E: value 30, 21.6 kg); no FCFS order beats it, but FCFS serves more teams on average.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Verification: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python </a:t>
            </a:r>
            <a:r>
              <a:rPr sz="24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colab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4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reproduces the outputs; 5 unit tests pass; notebook 7/7 checks PASS; commit d93fc2e.</a:t>
            </a:r>
          </a:p>
          <a:p>
            <a:pPr algn="l" latinLnBrk="0">
              <a:spcAft>
                <a:spcPts val="400"/>
              </a:spcAft>
              <a:defRPr sz="307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4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Evidence status: </a:t>
            </a:r>
            <a:r>
              <a:rPr sz="24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computed from one synthetic instance; behavioral play is planned, not observed.</a:t>
            </a:r>
          </a:p>
        </p:txBody>
      </p:sp>
      <p:sp>
        <p:nvSpPr>
          <p:cNvPr id="31" name="impact-title">
            <a:extLst>
              <a:ext uri="{FF2B5EF4-FFF2-40B4-BE49-F238E27FC236}">
                <a16:creationId xmlns:a16="http://schemas.microsoft.com/office/drawing/2014/main" id="{7974BDE9-47C8-4976-9EB0-1D99D2AD436D}"/>
              </a:ext>
            </a:extLst>
          </p:cNvPr>
          <p:cNvSpPr>
            <a:spLocks noGrp="1"/>
          </p:cNvSpPr>
          <p:nvPr/>
        </p:nvSpPr>
        <p:spPr>
          <a:xfrm>
            <a:off x="30421500" y="9525000"/>
            <a:ext cx="11049000" cy="809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465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465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03   Impact &amp; dialogue</a:t>
            </a:r>
          </a:p>
        </p:txBody>
      </p:sp>
      <p:sp>
        <p:nvSpPr>
          <p:cNvPr id="32" name="impact-title-rule">
            <a:extLst>
              <a:ext uri="{FF2B5EF4-FFF2-40B4-BE49-F238E27FC236}">
                <a16:creationId xmlns:a16="http://schemas.microsoft.com/office/drawing/2014/main" id="{92EF0681-32CB-4E92-B477-91FDD7DB084E}"/>
              </a:ext>
            </a:extLst>
          </p:cNvPr>
          <p:cNvSpPr>
            <a:spLocks noGrp="1"/>
          </p:cNvSpPr>
          <p:nvPr/>
        </p:nvSpPr>
        <p:spPr>
          <a:xfrm>
            <a:off x="30421500" y="10506075"/>
            <a:ext cx="11049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real-world-heading">
            <a:extLst>
              <a:ext uri="{FF2B5EF4-FFF2-40B4-BE49-F238E27FC236}">
                <a16:creationId xmlns:a16="http://schemas.microsoft.com/office/drawing/2014/main" id="{8D7A544D-17E0-43AC-A769-0DC992E2E072}"/>
              </a:ext>
            </a:extLst>
          </p:cNvPr>
          <p:cNvSpPr>
            <a:spLocks noGrp="1"/>
          </p:cNvSpPr>
          <p:nvPr/>
        </p:nvSpPr>
        <p:spPr>
          <a:xfrm>
            <a:off x="30421500" y="11146536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Practical impact: a real-world case</a:t>
            </a:r>
          </a:p>
        </p:txBody>
      </p:sp>
      <p:sp>
        <p:nvSpPr>
          <p:cNvPr id="34" name="real-world">
            <a:extLst>
              <a:ext uri="{FF2B5EF4-FFF2-40B4-BE49-F238E27FC236}">
                <a16:creationId xmlns:a16="http://schemas.microsoft.com/office/drawing/2014/main" id="{2199F087-3016-48E4-80F0-4F875A71FCDD}"/>
              </a:ext>
            </a:extLst>
          </p:cNvPr>
          <p:cNvSpPr>
            <a:spLocks noGrp="1"/>
          </p:cNvSpPr>
          <p:nvPr/>
        </p:nvSpPr>
        <p:spPr>
          <a:xfrm>
            <a:off x="30421500" y="11886438"/>
            <a:ext cx="11049000" cy="39928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Case: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a university's shared GPU cluster (e.g., a lab pool at DKU); no adoption yet.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Decision: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replace queue order with a published, re-runnable rule and a carbon weight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Benefits / risks: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high-value projects run first and allocations become auditable;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can penalize compute-heavy research, and fewer teams are served.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Before adoption: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credits need a real future cost; pilot reported values against ex-post outcomes.</a:t>
            </a:r>
          </a:p>
          <a:p>
            <a:pPr algn="l" latinLnBrk="0">
              <a:spcAft>
                <a:spcPts val="600"/>
              </a:spcAft>
              <a:defRPr sz="33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Correction: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public audit log;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revised through review</a:t>
            </a:r>
            <a:r>
              <a:rPr lang="en-US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s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35" name="interdisciplinary-heading">
            <a:extLst>
              <a:ext uri="{FF2B5EF4-FFF2-40B4-BE49-F238E27FC236}">
                <a16:creationId xmlns:a16="http://schemas.microsoft.com/office/drawing/2014/main" id="{1E996ED0-A32A-4617-8E65-E6ED026E62D8}"/>
              </a:ext>
            </a:extLst>
          </p:cNvPr>
          <p:cNvSpPr>
            <a:spLocks noGrp="1"/>
          </p:cNvSpPr>
          <p:nvPr/>
        </p:nvSpPr>
        <p:spPr>
          <a:xfrm>
            <a:off x="30421500" y="16245078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Interdisciplinary evidence</a:t>
            </a:r>
          </a:p>
        </p:txBody>
      </p:sp>
      <p:sp>
        <p:nvSpPr>
          <p:cNvPr id="36" name="interdisciplinary">
            <a:extLst>
              <a:ext uri="{FF2B5EF4-FFF2-40B4-BE49-F238E27FC236}">
                <a16:creationId xmlns:a16="http://schemas.microsoft.com/office/drawing/2014/main" id="{91D1D813-AECB-4965-9667-285D2DDCB3E4}"/>
              </a:ext>
            </a:extLst>
          </p:cNvPr>
          <p:cNvSpPr>
            <a:spLocks noGrp="1"/>
          </p:cNvSpPr>
          <p:nvPr/>
        </p:nvSpPr>
        <p:spPr>
          <a:xfrm>
            <a:off x="30421500" y="16984980"/>
            <a:ext cx="11049000" cy="44500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Behavioral science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Players hold a private value, report, predict their selection, then see payments, utility, and a what-if curve; each copies a result line to a shared sheet.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Boundary: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no plays collected yet; rivals are simulated</a:t>
            </a:r>
            <a:r>
              <a:rPr lang="en-US" sz="250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.</a:t>
            </a:r>
            <a:endParaRPr lang="en-US" sz="2500" b="0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Computer</a:t>
            </a:r>
            <a:r>
              <a:rPr lang="en-US"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Science</a:t>
            </a:r>
            <a:endParaRPr sz="2500" b="1" dirty="0">
              <a:solidFill>
                <a:srgbClr val="212A33"/>
              </a:solidFill>
              <a:latin typeface="Calibri"/>
              <a:ea typeface="Calibri"/>
              <a:cs typeface="Calibri"/>
            </a:endParaRP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Exact 64-group VCG and 720-order FCFS; python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colab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/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run_simulation.py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reproduces the committed outputs; unit tests pass.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Integration: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building the Space's what-if curve exposed that utility vᵢ − pᵢ rewards overreporting, so the model now charges each team its own carbon.</a:t>
            </a:r>
          </a:p>
        </p:txBody>
      </p:sp>
      <p:sp>
        <p:nvSpPr>
          <p:cNvPr id="37" name="limits-heading">
            <a:extLst>
              <a:ext uri="{FF2B5EF4-FFF2-40B4-BE49-F238E27FC236}">
                <a16:creationId xmlns:a16="http://schemas.microsoft.com/office/drawing/2014/main" id="{68ADFBED-634F-4EFD-A437-EF921500A3B3}"/>
              </a:ext>
            </a:extLst>
          </p:cNvPr>
          <p:cNvSpPr>
            <a:spLocks noGrp="1"/>
          </p:cNvSpPr>
          <p:nvPr/>
        </p:nvSpPr>
        <p:spPr>
          <a:xfrm>
            <a:off x="30421500" y="2180082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Limitations &amp; next test</a:t>
            </a:r>
          </a:p>
        </p:txBody>
      </p:sp>
      <p:sp>
        <p:nvSpPr>
          <p:cNvPr id="38" name="limits">
            <a:extLst>
              <a:ext uri="{FF2B5EF4-FFF2-40B4-BE49-F238E27FC236}">
                <a16:creationId xmlns:a16="http://schemas.microsoft.com/office/drawing/2014/main" id="{B297720D-E873-4F17-88AF-AF30E5F69FD6}"/>
              </a:ext>
            </a:extLst>
          </p:cNvPr>
          <p:cNvSpPr>
            <a:spLocks noGrp="1"/>
          </p:cNvSpPr>
          <p:nvPr/>
        </p:nvSpPr>
        <p:spPr>
          <a:xfrm>
            <a:off x="30421500" y="22540722"/>
            <a:ext cx="11049000" cy="231648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Limitation: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one synthetic instance;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and 0.24 kg/GPU-h are assumptions; true values cannot be verified.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Next test: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pilot comparing reported values with ex-post project outcomes at a scale beyond exact search.</a:t>
            </a:r>
          </a:p>
          <a:p>
            <a:pPr algn="l" latinLnBrk="0">
              <a:spcAft>
                <a:spcPts val="600"/>
              </a:spcAft>
              <a:defRPr sz="32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2500" b="1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Question for reviewers: 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how should </a:t>
            </a:r>
            <a:r>
              <a:rPr sz="25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λ</a:t>
            </a:r>
            <a:r>
              <a:rPr sz="25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be set, and who should set it?</a:t>
            </a:r>
          </a:p>
        </p:txBody>
      </p:sp>
      <p:sp>
        <p:nvSpPr>
          <p:cNvPr id="39" name="dates">
            <a:extLst>
              <a:ext uri="{FF2B5EF4-FFF2-40B4-BE49-F238E27FC236}">
                <a16:creationId xmlns:a16="http://schemas.microsoft.com/office/drawing/2014/main" id="{EA157D18-CC9B-4A0B-91A5-3BE26B8F384A}"/>
              </a:ext>
            </a:extLst>
          </p:cNvPr>
          <p:cNvSpPr>
            <a:spLocks noGrp="1"/>
          </p:cNvSpPr>
          <p:nvPr/>
        </p:nvSpPr>
        <p:spPr>
          <a:xfrm>
            <a:off x="30421500" y="25813512"/>
            <a:ext cx="110490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5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SEP 28  Symposium, peer evaluation &amp; case impact</a:t>
            </a:r>
          </a:p>
          <a:p>
            <a:pPr algn="l">
              <a:defRPr sz="2550" b="1">
                <a:solidFill>
                  <a:srgbClr val="006633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06633"/>
                </a:solidFill>
                <a:latin typeface="Calibri"/>
                <a:ea typeface="Calibri"/>
                <a:cs typeface="Calibri"/>
              </a:rPr>
              <a:t>SEP 30  Final update</a:t>
            </a:r>
          </a:p>
        </p:txBody>
      </p:sp>
      <p:sp>
        <p:nvSpPr>
          <p:cNvPr id="40" name="footer-rule">
            <a:extLst>
              <a:ext uri="{FF2B5EF4-FFF2-40B4-BE49-F238E27FC236}">
                <a16:creationId xmlns:a16="http://schemas.microsoft.com/office/drawing/2014/main" id="{24CE48EC-E121-4C2A-81BE-8C70F6F42833}"/>
              </a:ext>
            </a:extLst>
          </p:cNvPr>
          <p:cNvSpPr>
            <a:spLocks noGrp="1"/>
          </p:cNvSpPr>
          <p:nvPr/>
        </p:nvSpPr>
        <p:spPr>
          <a:xfrm>
            <a:off x="1333500" y="27527250"/>
            <a:ext cx="40137000" cy="47625"/>
          </a:xfrm>
          <a:prstGeom prst="rect">
            <a:avLst/>
          </a:prstGeom>
          <a:solidFill>
            <a:srgbClr val="00663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ack-heading">
            <a:extLst>
              <a:ext uri="{FF2B5EF4-FFF2-40B4-BE49-F238E27FC236}">
                <a16:creationId xmlns:a16="http://schemas.microsoft.com/office/drawing/2014/main" id="{CC1B0A45-EEBC-4636-8C8B-F880435533DE}"/>
              </a:ext>
            </a:extLst>
          </p:cNvPr>
          <p:cNvSpPr>
            <a:spLocks noGrp="1"/>
          </p:cNvSpPr>
          <p:nvPr/>
        </p:nvSpPr>
        <p:spPr>
          <a:xfrm>
            <a:off x="1333500" y="27813000"/>
            <a:ext cx="110490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Acknowledgments</a:t>
            </a:r>
          </a:p>
        </p:txBody>
      </p:sp>
      <p:sp>
        <p:nvSpPr>
          <p:cNvPr id="42" name="ack">
            <a:extLst>
              <a:ext uri="{FF2B5EF4-FFF2-40B4-BE49-F238E27FC236}">
                <a16:creationId xmlns:a16="http://schemas.microsoft.com/office/drawing/2014/main" id="{1C589FA2-42B8-4C7A-9C87-A446B7866781}"/>
              </a:ext>
            </a:extLst>
          </p:cNvPr>
          <p:cNvSpPr>
            <a:spLocks noGrp="1"/>
          </p:cNvSpPr>
          <p:nvPr/>
        </p:nvSpPr>
        <p:spPr>
          <a:xfrm>
            <a:off x="1333500" y="28479750"/>
            <a:ext cx="1104900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9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Instructor: Professor </a:t>
            </a:r>
            <a:r>
              <a:rPr sz="19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Luyao</a:t>
            </a:r>
            <a:r>
              <a:rPr sz="19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 Zhang. Software: Python, Jupyter and Google </a:t>
            </a:r>
            <a:r>
              <a:rPr sz="1900" b="0" dirty="0" err="1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Colab</a:t>
            </a:r>
            <a:r>
              <a:rPr sz="1900" b="0" dirty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, matplotlib, Hugging Face Spaces. AI: Claude Code (Claude Opus 5.5) assisted the Space, notebook, tests, and figures; The authors are responsible for all content.</a:t>
            </a:r>
          </a:p>
        </p:txBody>
      </p:sp>
      <p:sp>
        <p:nvSpPr>
          <p:cNvPr id="43" name="references-heading">
            <a:extLst>
              <a:ext uri="{FF2B5EF4-FFF2-40B4-BE49-F238E27FC236}">
                <a16:creationId xmlns:a16="http://schemas.microsoft.com/office/drawing/2014/main" id="{E7EA3AAE-744F-4F03-A737-D3056A093795}"/>
              </a:ext>
            </a:extLst>
          </p:cNvPr>
          <p:cNvSpPr>
            <a:spLocks noGrp="1"/>
          </p:cNvSpPr>
          <p:nvPr/>
        </p:nvSpPr>
        <p:spPr>
          <a:xfrm>
            <a:off x="13335000" y="27813000"/>
            <a:ext cx="141922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3375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3375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Selected references</a:t>
            </a:r>
          </a:p>
        </p:txBody>
      </p:sp>
      <p:sp>
        <p:nvSpPr>
          <p:cNvPr id="44" name="references">
            <a:extLst>
              <a:ext uri="{FF2B5EF4-FFF2-40B4-BE49-F238E27FC236}">
                <a16:creationId xmlns:a16="http://schemas.microsoft.com/office/drawing/2014/main" id="{0ECEF328-5F03-4179-A929-2458DB1F400F}"/>
              </a:ext>
            </a:extLst>
          </p:cNvPr>
          <p:cNvSpPr>
            <a:spLocks noGrp="1"/>
          </p:cNvSpPr>
          <p:nvPr/>
        </p:nvSpPr>
        <p:spPr>
          <a:xfrm>
            <a:off x="13335000" y="28479750"/>
            <a:ext cx="14192250" cy="1285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[1] Vickrey, W. (1961). Counterspeculation, auctions, and competitive sealed tenders. J. Finance 16(1), 8–37. doi:10.1111/j.1540-6261.1961.tb02789.x</a:t>
            </a:r>
          </a:p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[2] Clarke, E. H. (1971). Multipart pricing of public goods. Public Choice 11, 17–33. doi:10.1007/BF01726210</a:t>
            </a:r>
          </a:p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[3] Groves, T. (1973). Incentives in teams. Econometrica 41(4), 617–631. doi:10.2307/1914085</a:t>
            </a:r>
          </a:p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[4] Harsanyi, J. C. (1968). Games with incomplete information played by Bayesian players, II. Mgmt. Sci. 14(5), 320–334. doi:10.1287/mnsc.14.5.320</a:t>
            </a:r>
          </a:p>
          <a:p>
            <a:pPr algn="l">
              <a:defRPr sz="2400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212A33"/>
                </a:solidFill>
                <a:latin typeface="Calibri"/>
                <a:ea typeface="Calibri"/>
                <a:cs typeface="Calibri"/>
              </a:rPr>
              <a:t>[5] Zachariadis, K. E., et al. (2026). FAIR-Compute: A roadmap for fair and efficient allocation of federated digital research infrastructure. arXiv:2607.28290</a:t>
            </a:r>
          </a:p>
        </p:txBody>
      </p:sp>
      <p:sp>
        <p:nvSpPr>
          <p:cNvPr id="45" name="access-heading">
            <a:extLst>
              <a:ext uri="{FF2B5EF4-FFF2-40B4-BE49-F238E27FC236}">
                <a16:creationId xmlns:a16="http://schemas.microsoft.com/office/drawing/2014/main" id="{49F540C3-5DD7-4CE8-9BCD-20A72A498083}"/>
              </a:ext>
            </a:extLst>
          </p:cNvPr>
          <p:cNvSpPr>
            <a:spLocks noGrp="1"/>
          </p:cNvSpPr>
          <p:nvPr/>
        </p:nvSpPr>
        <p:spPr>
          <a:xfrm>
            <a:off x="30421500" y="27813000"/>
            <a:ext cx="1104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>
            <a:noAutofit/>
          </a:bodyPr>
          <a:lstStyle/>
          <a:p>
            <a:pPr algn="l">
              <a:defRPr sz="2400" b="1">
                <a:solidFill>
                  <a:srgbClr val="003399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03399"/>
                </a:solidFill>
                <a:latin typeface="Calibri"/>
                <a:ea typeface="Calibri"/>
                <a:cs typeface="Calibri"/>
              </a:rPr>
              <a:t>OPEN MATERIALS</a:t>
            </a:r>
          </a:p>
        </p:txBody>
      </p:sp>
      <p:sp>
        <p:nvSpPr>
          <p:cNvPr id="46" name="access-links">
            <a:extLst>
              <a:ext uri="{FF2B5EF4-FFF2-40B4-BE49-F238E27FC236}">
                <a16:creationId xmlns:a16="http://schemas.microsoft.com/office/drawing/2014/main" id="{35C264DA-792D-48F7-AE3C-F21A5E9ADD8F}"/>
              </a:ext>
            </a:extLst>
          </p:cNvPr>
          <p:cNvSpPr>
            <a:spLocks noGrp="1"/>
          </p:cNvSpPr>
          <p:nvPr/>
        </p:nvSpPr>
        <p:spPr>
          <a:xfrm>
            <a:off x="30421500" y="28384500"/>
            <a:ext cx="8096250" cy="1000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4"/>
              </a:rPr>
              <a:t>Hugging Face: https://huggingface.co/spaces/dku-comsci-econ206-2026/PS2_Team_A</a:t>
            </a:r>
          </a:p>
          <a:p>
            <a:pPr algn="l">
              <a:defRPr sz="2325" b="0">
                <a:solidFill>
                  <a:srgbClr val="212A33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212A33"/>
                </a:solidFill>
                <a:latin typeface="Calibri"/>
                <a:ea typeface="Calibri"/>
                <a:cs typeface="Calibri"/>
                <a:hlinkClick r:id="rId5"/>
              </a:rPr>
              <a:t>GitHub: https://github.com/GihoonE/COMPSCI206-PS2 (commit d93fc2e)</a:t>
            </a:r>
          </a:p>
        </p:txBody>
      </p:sp>
      <p:sp>
        <p:nvSpPr>
          <p:cNvPr id="51" name="format-note">
            <a:extLst>
              <a:ext uri="{FF2B5EF4-FFF2-40B4-BE49-F238E27FC236}">
                <a16:creationId xmlns:a16="http://schemas.microsoft.com/office/drawing/2014/main" id="{49DEC60E-E378-41A7-B1C9-EC4712C55A58}"/>
              </a:ext>
            </a:extLst>
          </p:cNvPr>
          <p:cNvSpPr>
            <a:spLocks noGrp="1"/>
          </p:cNvSpPr>
          <p:nvPr/>
        </p:nvSpPr>
        <p:spPr>
          <a:xfrm>
            <a:off x="1333500" y="29813250"/>
            <a:ext cx="40137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>
            <a:noAutofit/>
          </a:bodyPr>
          <a:lstStyle/>
          <a:p>
            <a:pPr algn="l">
              <a:defRPr sz="1950" b="0">
                <a:solidFill>
                  <a:srgbClr val="56616B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56616B"/>
                </a:solidFill>
                <a:latin typeface="Calibri"/>
                <a:ea typeface="Calibri"/>
                <a:cs typeface="Calibri"/>
              </a:rPr>
              <a:t>A0 landscape · 1189 × 841 mm  |  QR codes: left Hugging Face Space, right GitHub repository.</a:t>
            </a:r>
          </a:p>
        </p:txBody>
      </p:sp>
      <p:sp>
        <p:nvSpPr>
          <p:cNvPr id="59" name="design-step-1"/>
          <p:cNvSpPr/>
          <p:nvPr/>
        </p:nvSpPr>
        <p:spPr>
          <a:xfrm>
            <a:off x="13700760" y="11601450"/>
            <a:ext cx="2678160" cy="37528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>
                <a:solidFill>
                  <a:srgbClr val="003399"/>
                </a:solidFill>
                <a:latin typeface="Calibri"/>
              </a:rPr>
              <a:t>1  Question</a:t>
            </a:r>
          </a:p>
          <a:p>
            <a:pPr algn="ctr">
              <a:spcBef>
                <a:spcPts val="800"/>
              </a:spcBef>
            </a:pPr>
            <a:r>
              <a:rPr sz="2000">
                <a:solidFill>
                  <a:srgbClr val="1F2937"/>
                </a:solidFill>
                <a:latin typeface="Calibri"/>
              </a:rPr>
              <a:t>Value- and carbon-aware allocation of 100 GPU-h?</a:t>
            </a:r>
          </a:p>
        </p:txBody>
      </p:sp>
      <p:sp>
        <p:nvSpPr>
          <p:cNvPr id="60" name="design-arrow-1"/>
          <p:cNvSpPr/>
          <p:nvPr/>
        </p:nvSpPr>
        <p:spPr>
          <a:xfrm>
            <a:off x="16452072" y="13294995"/>
            <a:ext cx="356616" cy="365760"/>
          </a:xfrm>
          <a:prstGeom prst="rightArrow">
            <a:avLst/>
          </a:prstGeom>
          <a:solidFill>
            <a:srgbClr val="00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design-step-2"/>
          <p:cNvSpPr/>
          <p:nvPr/>
        </p:nvSpPr>
        <p:spPr>
          <a:xfrm>
            <a:off x="16881840" y="11601450"/>
            <a:ext cx="2678160" cy="37528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>
                <a:solidFill>
                  <a:srgbClr val="003399"/>
                </a:solidFill>
                <a:latin typeface="Calibri"/>
              </a:rPr>
              <a:t>2  Model</a:t>
            </a:r>
          </a:p>
          <a:p>
            <a:pPr algn="ctr">
              <a:spcBef>
                <a:spcPts val="800"/>
              </a:spcBef>
            </a:pPr>
            <a:r>
              <a:rPr sz="2000">
                <a:solidFill>
                  <a:srgbClr val="1F2937"/>
                </a:solidFill>
                <a:latin typeface="Calibri"/>
              </a:rPr>
              <a:t>Static game, private values; DSIC benchmark</a:t>
            </a:r>
          </a:p>
        </p:txBody>
      </p:sp>
      <p:sp>
        <p:nvSpPr>
          <p:cNvPr id="62" name="design-arrow-2"/>
          <p:cNvSpPr/>
          <p:nvPr/>
        </p:nvSpPr>
        <p:spPr>
          <a:xfrm>
            <a:off x="19633152" y="13294995"/>
            <a:ext cx="356616" cy="365760"/>
          </a:xfrm>
          <a:prstGeom prst="rightArrow">
            <a:avLst/>
          </a:prstGeom>
          <a:solidFill>
            <a:srgbClr val="00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design-step-3"/>
          <p:cNvSpPr/>
          <p:nvPr/>
        </p:nvSpPr>
        <p:spPr>
          <a:xfrm>
            <a:off x="20062920" y="11601450"/>
            <a:ext cx="2678160" cy="37528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dirty="0">
                <a:solidFill>
                  <a:srgbClr val="003399"/>
                </a:solidFill>
                <a:latin typeface="Calibri"/>
              </a:rPr>
              <a:t>3  Test</a:t>
            </a:r>
          </a:p>
          <a:p>
            <a:pPr algn="ctr">
              <a:spcBef>
                <a:spcPts val="800"/>
              </a:spcBef>
            </a:pPr>
            <a:r>
              <a:rPr sz="2000" dirty="0">
                <a:solidFill>
                  <a:srgbClr val="1F2937"/>
                </a:solidFill>
                <a:latin typeface="Calibri"/>
              </a:rPr>
              <a:t>Exact VCG vs. 720 FCFS orders; misreport sweep</a:t>
            </a:r>
          </a:p>
        </p:txBody>
      </p:sp>
      <p:sp>
        <p:nvSpPr>
          <p:cNvPr id="64" name="design-arrow-3"/>
          <p:cNvSpPr/>
          <p:nvPr/>
        </p:nvSpPr>
        <p:spPr>
          <a:xfrm>
            <a:off x="22814232" y="13294995"/>
            <a:ext cx="356616" cy="365760"/>
          </a:xfrm>
          <a:prstGeom prst="rightArrow">
            <a:avLst/>
          </a:prstGeom>
          <a:solidFill>
            <a:srgbClr val="00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design-step-4"/>
          <p:cNvSpPr/>
          <p:nvPr/>
        </p:nvSpPr>
        <p:spPr>
          <a:xfrm>
            <a:off x="23244000" y="11601450"/>
            <a:ext cx="2678160" cy="37528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6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 dirty="0">
                <a:solidFill>
                  <a:srgbClr val="006633"/>
                </a:solidFill>
                <a:latin typeface="Calibri"/>
              </a:rPr>
              <a:t>4  Evidence</a:t>
            </a:r>
          </a:p>
          <a:p>
            <a:pPr algn="ctr">
              <a:spcBef>
                <a:spcPts val="800"/>
              </a:spcBef>
            </a:pPr>
            <a:r>
              <a:rPr sz="2000" dirty="0">
                <a:solidFill>
                  <a:srgbClr val="1F2937"/>
                </a:solidFill>
                <a:latin typeface="Calibri"/>
              </a:rPr>
              <a:t>GitHub + </a:t>
            </a:r>
            <a:r>
              <a:rPr sz="2000" dirty="0" err="1">
                <a:solidFill>
                  <a:srgbClr val="1F2937"/>
                </a:solidFill>
                <a:latin typeface="Calibri"/>
              </a:rPr>
              <a:t>Colab</a:t>
            </a:r>
            <a:r>
              <a:rPr sz="2000" dirty="0">
                <a:solidFill>
                  <a:srgbClr val="1F2937"/>
                </a:solidFill>
                <a:latin typeface="Calibri"/>
              </a:rPr>
              <a:t>: computed. HF play: planned</a:t>
            </a:r>
          </a:p>
        </p:txBody>
      </p:sp>
      <p:sp>
        <p:nvSpPr>
          <p:cNvPr id="66" name="design-arrow-4"/>
          <p:cNvSpPr/>
          <p:nvPr/>
        </p:nvSpPr>
        <p:spPr>
          <a:xfrm>
            <a:off x="25995312" y="13294995"/>
            <a:ext cx="356616" cy="365760"/>
          </a:xfrm>
          <a:prstGeom prst="rightArrow">
            <a:avLst/>
          </a:prstGeom>
          <a:solidFill>
            <a:srgbClr val="0066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design-step-5"/>
          <p:cNvSpPr/>
          <p:nvPr/>
        </p:nvSpPr>
        <p:spPr>
          <a:xfrm>
            <a:off x="26425080" y="11601450"/>
            <a:ext cx="2678160" cy="37528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31750">
            <a:solidFill>
              <a:srgbClr val="00663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800" b="1">
                <a:solidFill>
                  <a:srgbClr val="006633"/>
                </a:solidFill>
                <a:latin typeface="Calibri"/>
              </a:rPr>
              <a:t>5  Revision</a:t>
            </a:r>
          </a:p>
          <a:p>
            <a:pPr algn="ctr">
              <a:spcBef>
                <a:spcPts val="800"/>
              </a:spcBef>
            </a:pPr>
            <a:r>
              <a:rPr sz="2000">
                <a:solidFill>
                  <a:srgbClr val="1F2937"/>
                </a:solidFill>
                <a:latin typeface="Calibri"/>
              </a:rPr>
              <a:t>Utility charges own carbon; FCFS → 720 orders</a:t>
            </a:r>
          </a:p>
        </p:txBody>
      </p:sp>
      <p:pic>
        <p:nvPicPr>
          <p:cNvPr id="68" name="main-result-figure" descr="fig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17880" y="17794986"/>
            <a:ext cx="15768240" cy="5958928"/>
          </a:xfrm>
          <a:prstGeom prst="rect">
            <a:avLst/>
          </a:prstGeom>
        </p:spPr>
      </p:pic>
      <p:pic>
        <p:nvPicPr>
          <p:cNvPr id="69" name="hf-qr-code" descr="qr_h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07720" y="28300680"/>
            <a:ext cx="1143000" cy="1143000"/>
          </a:xfrm>
          <a:prstGeom prst="rect">
            <a:avLst/>
          </a:prstGeom>
        </p:spPr>
      </p:pic>
      <p:pic>
        <p:nvPicPr>
          <p:cNvPr id="70" name="github-qr-code" descr="qr_gh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279320" y="28300680"/>
            <a:ext cx="1143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9821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1555</Words>
  <Application>Microsoft Macintosh PowerPoint</Application>
  <DocSecurity>0</DocSecurity>
  <PresentationFormat>사용자 지정</PresentationFormat>
  <Paragraphs>81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3" baseType="lpstr">
      <vt:lpstr>Calibri</vt:lpstr>
      <vt:lpstr>ChatGPT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Gihun Lee</cp:lastModifiedBy>
  <cp:revision>6</cp:revision>
  <dcterms:created xsi:type="dcterms:W3CDTF">2026-09-21T06:28:50Z</dcterms:created>
  <dcterms:modified xsi:type="dcterms:W3CDTF">2026-09-27T03:47:27Z</dcterms:modified>
</cp:coreProperties>
</file>