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88"/>
    <p:restoredTop sz="94616"/>
  </p:normalViewPr>
  <p:slideViewPr>
    <p:cSldViewPr snapToGrid="0">
      <p:cViewPr>
        <p:scale>
          <a:sx n="34" d="100"/>
          <a:sy n="34" d="100"/>
        </p:scale>
        <p:origin x="22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dku-comsci-econ206-2026/PS2_Team_A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PROJECT: VERIFIED CONTRIBUTION &amp; REPRODUCIBLE RELEASE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 latinLnBrk="0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v3  ·  OCT 21, 2026  ·  commit 2045024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Khan, Temur Akhtamjonov,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beats or ties all 720 FCFS arrival orders on value net of carbon (19.2 vs. 16.96 mean),</a:t>
            </a:r>
          </a:p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 when credits are a fixed budget (C1–C3),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Setting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41480"/>
            <a:ext cx="11049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university GPU queues ignore both project value and carbon.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shows value-blind rules lose about a third of value but leaves carbon and truthful mechanisms open. Truthful cloud auctions price server costs [6]; carbon-aware schedulers shift load without prices [7]. We build the missing rule at an exactly solvable scale.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4310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4996159"/>
            <a:ext cx="11049000" cy="532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privately knows vᵢ ∈ {3, 6, 9} and sends one sealed report rᵢ (static game,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request dᵢ, emissions eᵢ = 0.24 dᵢ kg CO₂e, capacity K = 100, λ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pick the feasible group S* maximizing Σ(rᵢ − λeᵢ) over all 64 groups; each winner pays the score the others lose (VCG) in credits.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λeᵢ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(DSIC) [1–4] only if C1 each winner pays its own carbon charge λeᵢ in credits; C2 each team holds a fixed 100-credit budget per round, no top-ups; C3 the budget never binds (largest spend 60, checked).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23454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4140160"/>
            <a:ext cx="11049000" cy="2834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reporting is each team's best strategy, whatever others report.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under capacity; the cost is fewer teams served (4 vs. 4.93).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published score rule with VCG prices replaces the queue; λ moves prices, not the winners or the best strategy.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19908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Named contributions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0556000"/>
            <a:ext cx="11049000" cy="28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framing and closest work; credit design C2 from his self-challenge; Practical Impacts and SDG targets; checks names in paper and poster.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model and exact solver; FCFS–VCG comparison; GPU-type and measured-emission study; verifies revisions across artifacts.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Gihun Lee: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Space and notebook; λ sweep, two-pool and C3 budget checks; Figure 1 annotations, roadmap, two-page paper, Appendix D.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Joint: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question, model, and every artifact, reviewed by all three.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questions and setting. Six teams request 120 GPU-hours from a pool of 100. Values are private; requests and emissions are public. Q1 and Q2 are answered by the model and its exact computation, Q3 by play in the Hugging Face Space.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Result: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A, B, D, E (value 30, 21.6 kg CO₂e);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Parameter change: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for λ from 0.1 to 1 the same group wins and truth stays optimal; with two GPU pools emissions fall from 21.6 to 16.6 kg. Winners spend 48–54 of 100 credits.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 reproduces the outputs; 8 unit tests pass; notebook 10/10 checks PASS; tested commit 2045024.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 &amp; SDG targets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1536000" y="11844000"/>
            <a:ext cx="9936000" cy="435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9.5 research capability: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16.96 → 19.2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9.4 resource efficiency: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0.81 → 0.72 kg CO₂e per value; 0.55 with two pools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13.3 institutional capacity: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published λ, fixed credit supply, re-runnable audit log (intended; no adoption).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Stakeholders: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research teams, cluster admins, the institution,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Risk → safeguard: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heavy λ trades 9.5 for 9.4 → publish λ below 1.25; repeated exclusion → history-based credits (planned); credit inflation → fixed supply (C2).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32204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Behavioral evidence: five self-plays (exploratory)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9888200"/>
            <a:ext cx="110490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Agreement: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misreport paid off; one overreport bought a seat for 36 credits (u = −3.6).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three of five overreported (wanting to win; misunderstanding). Reflections were blank; new plays will ask for a reason first.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304288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Feedback, recognition &amp;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3728680"/>
            <a:ext cx="11049000" cy="3703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Duet &amp; roundtable (Z. Wang, Q. (Aaron) Wang, FP8):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not money → C1–C3 adopted; more GPU types → truth holds with 1 and 2 pools, more types next.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 (Oct 14):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conditions beside the claim; two-page paper; SDG targets with evidence status.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Award: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Interdisciplinary Mechanism Design Award from FP8.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Roadmap: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Econ: credit value over 10 rounds, announcing λ [9]. CS: GPU types with measured emissions, history-based credits [8]. Behavior: reason-before-result study, n ≥ 30.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87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8720000" cy="1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thank Prof. Luyao Zhang for PS1, PS2, the COMPSCI/ECON 206 workshops and her formal feedback; Prof. Kenneth S. (Ken) Rogerson for advice on each member's PS1, the foundation of our question; and Han Zhang for a question that made us state the research question more concretely. Duet partners Zhenning Wang and Qianshuo (Aaron) Wang (FP8) recommended our three closest papers, challenged our credit and GPU-type assumptions, and gave us an award. Symposium reviewers (Sept 28): Yiqiao Liu (FP10) and Qianshuo (Aaron) Wang (FP8), carbon weight; Zimu Zhou (FP11), GPU types; Xinrong Sun (FP9), truthfulness with the carbon charge; Yongzhuo Wu (FP1), play data; Zijie Wang (FP7), figure and gap; Muhan Chen (FP12), one instance. We acknowledge Tencent's Shanghai office, the Shanghai Science and Technology Museum, and the whole COMPSCI/ECON 206 classroom community. Data are synthetic; SDG icons are official UN icons. Software: Python, Jupyter, Google Colab, matplotlib, Hugging Face Spaces. AI: Claude Code (Claude Opus 5.5) assisted code, figures, and drafts (paper App. A.3); the authors are responsible for all content. Named a missing credit? Please open a GitHub issue.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20520000" y="27684000"/>
            <a:ext cx="151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20520000" y="28260000"/>
            <a:ext cx="15120000" cy="18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 (1961). J. Finance 16(1), 8–37. doi:10.1111/j.1540-6261.1961.tb02789.x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 (1971). Public Choice 11, 17–33. doi:10.1007/BF01726210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 (1973). Econometrica 41(4), 617–631. doi:10.2307/1914085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 (1968). Mgmt. Sci. 14(5), 320–334. doi:10.1287/mnsc.14.5.320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 et al. (2026). FAIR-Compute. arXiv:2607.28290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[6] Zhang et al. (2015). Online auctions in IaaS clouds. SIGMETRICS, 3–15. doi:10.1145/2745844.2745855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[7] Radovanović et al. (2021). Carbon-aware computing for datacenters. arXiv:2106.11750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[8] Vuppalapati et al. (2023). Karma. USENIX OSDI, 645–662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[9] Royal Swedish Academy of Sciences (2026). Prize in Economic Sciences 2026 (Hall, Woodford)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6000000" y="27813000"/>
            <a:ext cx="540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6000000" y="28368000"/>
            <a:ext cx="2808000" cy="133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Left QR: Hugging Face Space (commit dddebc7)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Right QR: GitHub (tested commit 2045024)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Colab and paper: links in the GitHub README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sp>
        <p:nvSpPr>
          <p:cNvPr id="72" name="question-1"/>
          <p:cNvSpPr/>
          <p:nvPr/>
        </p:nvSpPr>
        <p:spPr>
          <a:xfrm>
            <a:off x="1369771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Q1  Economics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How should scarce GPU-hours be allocated for value net of carbon when teams can misreport their private value?</a:t>
            </a:r>
          </a:p>
        </p:txBody>
      </p:sp>
      <p:sp>
        <p:nvSpPr>
          <p:cNvPr id="73" name="question-2"/>
          <p:cNvSpPr/>
          <p:nvPr/>
        </p:nvSpPr>
        <p:spPr>
          <a:xfrm>
            <a:off x="1890979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Q2  Computation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Can an exactly solved multi-team VCG beat first come, first served and stay auditable?</a:t>
            </a:r>
          </a:p>
        </p:txBody>
      </p:sp>
      <p:sp>
        <p:nvSpPr>
          <p:cNvPr id="74" name="question-3"/>
          <p:cNvSpPr/>
          <p:nvPr/>
        </p:nvSpPr>
        <p:spPr>
          <a:xfrm>
            <a:off x="2412187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Q3  Behavior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Do people report truthfully and understand the rule?</a:t>
            </a:r>
          </a:p>
        </p:txBody>
      </p:sp>
      <p:sp>
        <p:nvSpPr>
          <p:cNvPr id="75" name="request-A"/>
          <p:cNvSpPr/>
          <p:nvPr/>
        </p:nvSpPr>
        <p:spPr>
          <a:xfrm>
            <a:off x="1369771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A · 25 h</a:t>
            </a:r>
          </a:p>
        </p:txBody>
      </p:sp>
      <p:sp>
        <p:nvSpPr>
          <p:cNvPr id="76" name="request-B"/>
          <p:cNvSpPr/>
          <p:nvPr/>
        </p:nvSpPr>
        <p:spPr>
          <a:xfrm>
            <a:off x="1609801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B · 20 h</a:t>
            </a:r>
          </a:p>
        </p:txBody>
      </p:sp>
      <p:sp>
        <p:nvSpPr>
          <p:cNvPr id="77" name="request-C"/>
          <p:cNvSpPr/>
          <p:nvPr/>
        </p:nvSpPr>
        <p:spPr>
          <a:xfrm>
            <a:off x="1801825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C · 15 h</a:t>
            </a:r>
          </a:p>
        </p:txBody>
      </p:sp>
      <p:sp>
        <p:nvSpPr>
          <p:cNvPr id="78" name="request-D"/>
          <p:cNvSpPr/>
          <p:nvPr/>
        </p:nvSpPr>
        <p:spPr>
          <a:xfrm>
            <a:off x="1945843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D · 25 h</a:t>
            </a:r>
          </a:p>
        </p:txBody>
      </p:sp>
      <p:sp>
        <p:nvSpPr>
          <p:cNvPr id="79" name="request-E"/>
          <p:cNvSpPr/>
          <p:nvPr/>
        </p:nvSpPr>
        <p:spPr>
          <a:xfrm>
            <a:off x="2185873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E · 20 h</a:t>
            </a:r>
          </a:p>
        </p:txBody>
      </p:sp>
      <p:sp>
        <p:nvSpPr>
          <p:cNvPr id="80" name="request-F"/>
          <p:cNvSpPr/>
          <p:nvPr/>
        </p:nvSpPr>
        <p:spPr>
          <a:xfrm>
            <a:off x="2377897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F · 15 h</a:t>
            </a:r>
          </a:p>
        </p:txBody>
      </p:sp>
      <p:sp>
        <p:nvSpPr>
          <p:cNvPr id="81" name="capacity-line"/>
          <p:cNvSpPr/>
          <p:nvPr/>
        </p:nvSpPr>
        <p:spPr>
          <a:xfrm>
            <a:off x="23271480" y="14026896"/>
            <a:ext cx="54864" cy="1344168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endParaRPr/>
          </a:p>
        </p:txBody>
      </p:sp>
      <p:sp>
        <p:nvSpPr>
          <p:cNvPr id="82" name="capacity-label"/>
          <p:cNvSpPr/>
          <p:nvPr/>
        </p:nvSpPr>
        <p:spPr>
          <a:xfrm>
            <a:off x="19915632" y="1382572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r" latinLnBrk="0"/>
            <a:r>
              <a:rPr sz="2200" b="1">
                <a:solidFill>
                  <a:srgbClr val="212A33"/>
                </a:solidFill>
                <a:latin typeface="Calibri"/>
              </a:rPr>
              <a:t>capacity K = 100 GPU-h</a:t>
            </a:r>
          </a:p>
        </p:txBody>
      </p:sp>
      <p:sp>
        <p:nvSpPr>
          <p:cNvPr id="83" name="overflow-label"/>
          <p:cNvSpPr/>
          <p:nvPr/>
        </p:nvSpPr>
        <p:spPr>
          <a:xfrm>
            <a:off x="25356311" y="14328648"/>
            <a:ext cx="365760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400" b="1">
                <a:solidFill>
                  <a:srgbClr val="C2410C"/>
                </a:solidFill>
                <a:latin typeface="Calibri"/>
              </a:rPr>
              <a:t>120 GPU-h requested:
who is left out?</a:t>
            </a:r>
          </a:p>
        </p:txBody>
      </p:sp>
      <p:sp>
        <p:nvSpPr>
          <p:cNvPr id="84" name="setting-legend"/>
          <p:cNvSpPr/>
          <p:nvPr/>
        </p:nvSpPr>
        <p:spPr>
          <a:xfrm>
            <a:off x="13697712" y="15243048"/>
            <a:ext cx="15361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100" b="0">
                <a:solidFill>
                  <a:srgbClr val="56616B"/>
                </a:solidFill>
                <a:latin typeface="Calibri"/>
              </a:rPr>
              <a:t>Block width = public request dᵢ.  Shade = private value vᵢ (dark 9, medium 6, light 3).  Emissions eᵢ = 0.24 dᵢ kg CO₂e;  λ = 0.5.</a:t>
            </a:r>
          </a:p>
        </p:txBody>
      </p:sp>
      <p:graphicFrame>
        <p:nvGraphicFramePr>
          <p:cNvPr id="85" name="plays-table"/>
          <p:cNvGraphicFramePr>
            <a:graphicFrameLocks noGrp="1"/>
          </p:cNvGraphicFramePr>
          <p:nvPr/>
        </p:nvGraphicFramePr>
        <p:xfrm>
          <a:off x="30422088" y="17007840"/>
          <a:ext cx="110459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Truthful reports (r = v)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5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2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Overreports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Selection predicted correctly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Plays where a misreport raised utility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6" name="github-qr-cod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  <p:pic>
        <p:nvPicPr>
          <p:cNvPr id="87" name="sdg-09-icon" descr="sdg_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0000" y="11916000"/>
            <a:ext cx="936000" cy="936000"/>
          </a:xfrm>
          <a:prstGeom prst="rect">
            <a:avLst/>
          </a:prstGeom>
        </p:spPr>
      </p:pic>
      <p:pic>
        <p:nvPicPr>
          <p:cNvPr id="88" name="sdg-13-icon" descr="sdg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20000" y="12996000"/>
            <a:ext cx="936000" cy="936000"/>
          </a:xfrm>
          <a:prstGeom prst="rect">
            <a:avLst/>
          </a:prstGeom>
        </p:spPr>
      </p:pic>
      <p:pic>
        <p:nvPicPr>
          <p:cNvPr id="89" name="sdg-logo" descr="E_SDG_logo_horizontal_PRINT_Transpar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91750" y="4966568"/>
            <a:ext cx="4680000" cy="855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1736</Words>
  <Application>Microsoft Macintosh PowerPoint</Application>
  <DocSecurity>0</DocSecurity>
  <PresentationFormat>사용자 지정</PresentationFormat>
  <Paragraphs>104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7</cp:revision>
  <dcterms:created xsi:type="dcterms:W3CDTF">2026-09-21T06:28:50Z</dcterms:created>
  <dcterms:modified xsi:type="dcterms:W3CDTF">2026-10-05T15:29:41Z</dcterms:modified>
</cp:coreProperties>
</file>