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3763" cy="3027521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8"/>
    <p:restoredTop sz="94616"/>
  </p:normalViewPr>
  <p:slideViewPr>
    <p:cSldViewPr snapToGrid="0">
      <p:cViewPr>
        <p:scale>
          <a:sx n="34" d="100"/>
          <a:sy n="34" d="100"/>
        </p:scale>
        <p:origin x="22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COMSCI/ECON 206 PS2 clean A0 poster template.</a:t>
            </a:r>
          </a:p>
          <a:p>
            <a:r>
              <a:t>Brand guide: https://dku-web-admissions.s3.cn-north-1.amazonaws.com.cn/dkumain/wp-content/uploads/mainsite/2022/05/brand-guide-compressed_2021.pdf, linked from https://www.dukekunshan.edu.cn/media/. Guide pp. 5, 6, 12, 14, and 15 establish logo clear space/proportions, unchanged logo artwork, application colors #003399 and #006633 plus white, and Calibri as the office system font when InterstatePlus cannot be used. Official logo asset: https://www.dukekunshan.edu.cn/wp-content/uploads/2021/08/large_dku-Logo.png.</a:t>
            </a:r>
          </a:p>
          <a:p>
            <a:r>
              <a:t>Calibri is specified in the editable PowerPoint. The exported PDF uses Carlito, a metric-compatible open-source substitute because Calibri is unavailable in the export environment. Re-export from PowerPoint with Calibri for institution-font-exact output.</a:t>
            </a:r>
          </a:p>
          <a:p>
            <a:r>
              <a:t>Clean and annotated versions share all element positions. Keep A0 landscape 1189 x 841 mm, 100% print scale. Text and figure/QR placeholders are editable; preserve the embedded logo unchanged and keep at least half its height as clear space. Instructor belongs below authors, not in the author list. Replace all placeholders with actual work; distinguish observed results, inferences, and planned tests. QR codes are optional but full public URLs and tested access are required. References must be full and traceable; acknowledgments must name actual contributions and AI assistance. Sep 28: symposium, peer evaluation and real-world case impacts. Sep 30: final update. The PS1-style paper, LaTeX, and learning pathway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huggingface.co/spaces/dku-comsci-econ206-2026/PS2_Team_A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hyperlink" Target="https://github.com/dku-comsci-econ206-Autumn2026/FP05-PS2-Team-A" TargetMode="External"/><Relationship Id="rId12" Type="http://schemas.openxmlformats.org/officeDocument/2006/relationships/hyperlink" Target="https://colab.research.google.com/drive/1xYtctTPKXDszHMjdOS7IVz-OByt4edl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op-brand-rule">
            <a:extLst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4000" cy="228600"/>
          </a:xfrm>
          <a:prstGeom prst="rect">
            <a:avLst/>
          </a:prstGeom>
          <a:solidFill>
            <a:srgbClr val="003399"/>
          </a:solidFill>
          <a:ln w="0">
            <a:noFill/>
            <a:prstDash val="solid"/>
          </a:ln>
        </p:spPr>
        <p:txBody>
          <a:bodyPr/>
          <a:lstStyle/>
          <a:p>
            <a:pPr latinLnBrk="0"/>
            <a:endParaRPr lang="en-US"/>
          </a:p>
        </p:txBody>
      </p:sp>
      <p:sp>
        <p:nvSpPr>
          <p:cNvPr id="2" name="course-line">
            <a:extLst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noGrp="1"/>
          </p:cNvSpPr>
          <p:nvPr/>
        </p:nvSpPr>
        <p:spPr>
          <a:xfrm>
            <a:off x="1333500" y="781050"/>
            <a:ext cx="2886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FINAL PROJECT: VERIFIED CONTRIBUTION &amp; REPRODUCIBLE RELEASE   |   FALL 2026</a:t>
            </a:r>
          </a:p>
        </p:txBody>
      </p:sp>
      <p:sp>
        <p:nvSpPr>
          <p:cNvPr id="3" name="version">
            <a:extLst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noGrp="1"/>
          </p:cNvSpPr>
          <p:nvPr/>
        </p:nvSpPr>
        <p:spPr>
          <a:xfrm>
            <a:off x="31623000" y="6153150"/>
            <a:ext cx="9810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r" latinLnBrk="0"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FINAL v3  ·  OCT 21, 2026  ·  commit 2045024</a:t>
            </a:r>
          </a:p>
        </p:txBody>
      </p:sp>
      <p:sp>
        <p:nvSpPr>
          <p:cNvPr id="4" name="project-title">
            <a:extLst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noGrp="1"/>
          </p:cNvSpPr>
          <p:nvPr/>
        </p:nvSpPr>
        <p:spPr>
          <a:xfrm>
            <a:off x="1333500" y="1733550"/>
            <a:ext cx="29146500" cy="2619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defRPr sz="94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8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Can a carbon-aware VCG rule allocate shared</a:t>
            </a:r>
          </a:p>
          <a:p>
            <a:pPr algn="l" latinLnBrk="0">
              <a:defRPr sz="94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8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GPU-hours better than first come, first served?</a:t>
            </a:r>
          </a:p>
        </p:txBody>
      </p:sp>
      <p:sp>
        <p:nvSpPr>
          <p:cNvPr id="5" name="authors">
            <a:extLst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noGrp="1"/>
          </p:cNvSpPr>
          <p:nvPr/>
        </p:nvSpPr>
        <p:spPr>
          <a:xfrm>
            <a:off x="1333500" y="4457700"/>
            <a:ext cx="28575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defRPr sz="4050" b="1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Mustafa Ayub Khan, Temur Akhtamjonov, Gihun Lee  |  Team FP5</a:t>
            </a:r>
          </a:p>
        </p:txBody>
      </p:sp>
      <p:sp>
        <p:nvSpPr>
          <p:cNvPr id="6" name="course-instructor">
            <a:extLst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noGrp="1"/>
          </p:cNvSpPr>
          <p:nvPr/>
        </p:nvSpPr>
        <p:spPr>
          <a:xfrm>
            <a:off x="1333500" y="5229225"/>
            <a:ext cx="2857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58" name="그림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575500" y="2190750"/>
            <a:ext cx="8096250" cy="2595818"/>
          </a:xfrm>
          <a:prstGeom prst="rect">
            <a:avLst/>
          </a:prstGeom>
        </p:spPr>
      </p:pic>
      <p:sp>
        <p:nvSpPr>
          <p:cNvPr id="8" name="takeaway-band">
            <a:extLst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42804000" cy="2143125"/>
          </a:xfrm>
          <a:prstGeom prst="rect">
            <a:avLst/>
          </a:prstGeom>
          <a:solidFill>
            <a:srgbClr val="003399"/>
          </a:solidFill>
          <a:ln w="0">
            <a:noFill/>
            <a:prstDash val="solid"/>
          </a:ln>
        </p:spPr>
        <p:txBody>
          <a:bodyPr/>
          <a:lstStyle/>
          <a:p>
            <a:pPr latinLnBrk="0"/>
            <a:endParaRPr lang="en-US"/>
          </a:p>
        </p:txBody>
      </p:sp>
      <p:sp>
        <p:nvSpPr>
          <p:cNvPr id="9" name="takeaway-label">
            <a:extLst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noGrp="1"/>
          </p:cNvSpPr>
          <p:nvPr/>
        </p:nvSpPr>
        <p:spPr>
          <a:xfrm>
            <a:off x="1333500" y="7239000"/>
            <a:ext cx="4667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noGrp="1"/>
          </p:cNvSpPr>
          <p:nvPr/>
        </p:nvSpPr>
        <p:spPr>
          <a:xfrm>
            <a:off x="6477000" y="7000875"/>
            <a:ext cx="34993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published, carbon-aware VCG rule beats or ties all 720 FCFS arrival orders on value net of carbon (19.2 vs. 16.96 mean),</a:t>
            </a:r>
          </a:p>
          <a:p>
            <a:pPr algn="l" latinLnBrk="0"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cuts emissions per unit of value (0.72 vs. 0.81 kg), and keeps truthful reporting optimal when credits are a fixed budget (C1–C3), but serves fewer teams (4 vs. 4.93).</a:t>
            </a:r>
          </a:p>
        </p:txBody>
      </p:sp>
      <p:sp>
        <p:nvSpPr>
          <p:cNvPr id="11" name="question-model-title">
            <a:extLst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noGrp="1"/>
          </p:cNvSpPr>
          <p:nvPr/>
        </p:nvSpPr>
        <p:spPr>
          <a:xfrm>
            <a:off x="1333500" y="9525000"/>
            <a:ext cx="11049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&amp; model</a:t>
            </a:r>
          </a:p>
        </p:txBody>
      </p:sp>
      <p:sp>
        <p:nvSpPr>
          <p:cNvPr id="12" name="question-model-title-rule">
            <a:extLst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noGrp="1"/>
          </p:cNvSpPr>
          <p:nvPr/>
        </p:nvSpPr>
        <p:spPr>
          <a:xfrm>
            <a:off x="1333500" y="10506075"/>
            <a:ext cx="11049000" cy="47625"/>
          </a:xfrm>
          <a:prstGeom prst="rect">
            <a:avLst/>
          </a:prstGeom>
          <a:solidFill>
            <a:srgbClr val="006633"/>
          </a:solidFill>
          <a:ln w="0">
            <a:noFill/>
            <a:prstDash val="solid"/>
          </a:ln>
        </p:spPr>
        <p:txBody>
          <a:bodyPr/>
          <a:lstStyle/>
          <a:p>
            <a:pPr latinLnBrk="0"/>
            <a:endParaRPr lang="en-US"/>
          </a:p>
        </p:txBody>
      </p:sp>
      <p:sp>
        <p:nvSpPr>
          <p:cNvPr id="13" name="research-question-heading">
            <a:extLst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noGrp="1"/>
          </p:cNvSpPr>
          <p:nvPr/>
        </p:nvSpPr>
        <p:spPr>
          <a:xfrm>
            <a:off x="1333500" y="11146536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Setting &amp; verified gap</a:t>
            </a:r>
          </a:p>
        </p:txBody>
      </p:sp>
      <p:sp>
        <p:nvSpPr>
          <p:cNvPr id="14" name="research-question">
            <a:extLst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noGrp="1"/>
          </p:cNvSpPr>
          <p:nvPr/>
        </p:nvSpPr>
        <p:spPr>
          <a:xfrm>
            <a:off x="1333500" y="11841480"/>
            <a:ext cx="110490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Setting: </a:t>
            </a:r>
            <a:r>
              <a:rPr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university GPU queues ignore both project value and carbon.</a:t>
            </a:r>
          </a:p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Gap: </a:t>
            </a:r>
            <a:r>
              <a:rPr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FAIR-Compute [5] shows value-blind rules lose about a third of value but leaves carbon and truthful mechanisms open. Truthful cloud auctions price server costs [6]; carbon-aware schedulers shift load without prices [7]. We build the missing rule at an exactly solvable scale.</a:t>
            </a:r>
          </a:p>
        </p:txBody>
      </p:sp>
      <p:sp>
        <p:nvSpPr>
          <p:cNvPr id="15" name="model-heading">
            <a:extLst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noGrp="1"/>
          </p:cNvSpPr>
          <p:nvPr/>
        </p:nvSpPr>
        <p:spPr>
          <a:xfrm>
            <a:off x="1333500" y="1431036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 dirty="0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</a:t>
            </a:r>
          </a:p>
        </p:txBody>
      </p:sp>
      <p:sp>
        <p:nvSpPr>
          <p:cNvPr id="16" name="model">
            <a:extLst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noGrp="1"/>
          </p:cNvSpPr>
          <p:nvPr/>
        </p:nvSpPr>
        <p:spPr>
          <a:xfrm>
            <a:off x="1333500" y="14996159"/>
            <a:ext cx="11049000" cy="532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Players: </a:t>
            </a:r>
            <a:r>
              <a:rPr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six teams A–F; each privately knows vᵢ ∈ {3, 6, 9} and sends one sealed report rᵢ (static game, incomplete information).</a:t>
            </a:r>
          </a:p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Public: </a:t>
            </a:r>
            <a:r>
              <a:rPr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request dᵢ, emissions eᵢ = 0.24 dᵢ kg CO₂e, capacity K = 100, λ = 0.5.</a:t>
            </a:r>
          </a:p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Rule: </a:t>
            </a:r>
            <a:r>
              <a:rPr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pick the feasible group S* maximizing Σ(rᵢ − λeᵢ) over all 64 groups; each winner pays the score the others lose (VCG) in credits.</a:t>
            </a:r>
          </a:p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Payoff: </a:t>
            </a:r>
            <a:r>
              <a:rPr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uᵢ = vᵢ − λeᵢ − pᵢ if selected, else 0.</a:t>
            </a:r>
          </a:p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Solution: </a:t>
            </a:r>
            <a:r>
              <a:rPr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truthful rᵢ = vᵢ is dominant (DSIC) [1–4] only if C1 each winner pays its own carbon charge λeᵢ in credits; C2 each team holds a fixed 100-credit budget per round, no top-ups; C3 the budget never binds (largest spend 60, checked).</a:t>
            </a:r>
          </a:p>
        </p:txBody>
      </p:sp>
      <p:sp>
        <p:nvSpPr>
          <p:cNvPr id="17" name="lenses-heading">
            <a:extLst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noGrp="1"/>
          </p:cNvSpPr>
          <p:nvPr/>
        </p:nvSpPr>
        <p:spPr>
          <a:xfrm>
            <a:off x="1333500" y="2345436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lenses</a:t>
            </a:r>
          </a:p>
        </p:txBody>
      </p:sp>
      <p:sp>
        <p:nvSpPr>
          <p:cNvPr id="18" name="lenses">
            <a:extLst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noGrp="1"/>
          </p:cNvSpPr>
          <p:nvPr/>
        </p:nvSpPr>
        <p:spPr>
          <a:xfrm>
            <a:off x="1333500" y="24140160"/>
            <a:ext cx="11049000" cy="2834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lang="en"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Game theory: </a:t>
            </a:r>
            <a:r>
              <a:rPr lang="en"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truthful reporting is each team's best strategy, whatever others report.</a:t>
            </a:r>
          </a:p>
          <a:p>
            <a:pPr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lang="en"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Social choice: </a:t>
            </a:r>
            <a:r>
              <a:rPr lang="en"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value net of carbon under capacity; the cost is fewer teams served (4 vs. 4.93).</a:t>
            </a:r>
          </a:p>
          <a:p>
            <a:pPr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lang="en"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Mechanism design: </a:t>
            </a:r>
            <a:r>
              <a:rPr lang="en"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 published score rule with VCG prices replaces the queue; λ moves prices, not the winners or the best strategy.</a:t>
            </a:r>
          </a:p>
        </p:txBody>
      </p:sp>
      <p:sp>
        <p:nvSpPr>
          <p:cNvPr id="19" name="auction-heading">
            <a:extLst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noGrp="1"/>
          </p:cNvSpPr>
          <p:nvPr/>
        </p:nvSpPr>
        <p:spPr>
          <a:xfrm>
            <a:off x="1333500" y="199080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Named contributions</a:t>
            </a:r>
          </a:p>
        </p:txBody>
      </p:sp>
      <p:sp>
        <p:nvSpPr>
          <p:cNvPr id="20" name="auction">
            <a:extLst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noGrp="1"/>
          </p:cNvSpPr>
          <p:nvPr/>
        </p:nvSpPr>
        <p:spPr>
          <a:xfrm>
            <a:off x="1333500" y="20556000"/>
            <a:ext cx="11049000" cy="28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spcAft>
                <a:spcPts val="600"/>
              </a:spcAft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Mustafa Ayub Khan: </a:t>
            </a:r>
            <a:r>
              <a:rPr sz="21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framing and closest work; credit design C2 from his self-challenge; Practical Impacts and SDG targets; checks names in paper and poster.</a:t>
            </a:r>
          </a:p>
          <a:p>
            <a:pPr algn="l" latinLnBrk="0">
              <a:spcAft>
                <a:spcPts val="600"/>
              </a:spcAft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Temur Akhtamjonov: </a:t>
            </a:r>
            <a:r>
              <a:rPr sz="21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model and exact solver; FCFS–VCG comparison; GPU-type and measured-emission study; verifies revisions across artifacts.</a:t>
            </a:r>
          </a:p>
          <a:p>
            <a:pPr algn="l" latinLnBrk="0">
              <a:spcAft>
                <a:spcPts val="600"/>
              </a:spcAft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Gihun Lee: </a:t>
            </a:r>
            <a:r>
              <a:rPr sz="21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Space and notebook; λ sweep, two-pool and C3 budget checks; Figure 1 annotations, roadmap, two-page paper, Appendix D.</a:t>
            </a:r>
          </a:p>
          <a:p>
            <a:pPr algn="l" latinLnBrk="0">
              <a:spcAft>
                <a:spcPts val="600"/>
              </a:spcAft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Joint: </a:t>
            </a:r>
            <a:r>
              <a:rPr sz="21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question, model, and every artifact, reviewed by all three.</a:t>
            </a:r>
          </a:p>
        </p:txBody>
      </p:sp>
      <p:sp>
        <p:nvSpPr>
          <p:cNvPr id="21" name="design-evidence-title">
            <a:extLst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noGrp="1"/>
          </p:cNvSpPr>
          <p:nvPr/>
        </p:nvSpPr>
        <p:spPr>
          <a:xfrm>
            <a:off x="13335000" y="9525000"/>
            <a:ext cx="16134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Design &amp; evidence</a:t>
            </a:r>
          </a:p>
        </p:txBody>
      </p:sp>
      <p:sp>
        <p:nvSpPr>
          <p:cNvPr id="22" name="design-evidence-title-rule">
            <a:extLst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noGrp="1"/>
          </p:cNvSpPr>
          <p:nvPr/>
        </p:nvSpPr>
        <p:spPr>
          <a:xfrm>
            <a:off x="13335000" y="10506075"/>
            <a:ext cx="16134000" cy="47625"/>
          </a:xfrm>
          <a:prstGeom prst="rect">
            <a:avLst/>
          </a:prstGeom>
          <a:solidFill>
            <a:srgbClr val="006633"/>
          </a:solidFill>
          <a:ln w="0">
            <a:noFill/>
            <a:prstDash val="solid"/>
          </a:ln>
        </p:spPr>
        <p:txBody>
          <a:bodyPr/>
          <a:lstStyle/>
          <a:p>
            <a:pPr latinLnBrk="0"/>
            <a:endParaRPr lang="en-US"/>
          </a:p>
        </p:txBody>
      </p:sp>
      <p:sp>
        <p:nvSpPr>
          <p:cNvPr id="23" name="research-design-area">
            <a:extLst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noGrp="1"/>
          </p:cNvSpPr>
          <p:nvPr/>
        </p:nvSpPr>
        <p:spPr>
          <a:xfrm>
            <a:off x="13335000" y="11144250"/>
            <a:ext cx="16134000" cy="4667250"/>
          </a:xfrm>
          <a:prstGeom prst="rect">
            <a:avLst/>
          </a:prstGeom>
          <a:solidFill>
            <a:srgbClr val="F4F6F7"/>
          </a:solidFill>
          <a:ln w="19050">
            <a:solidFill>
              <a:srgbClr val="CFD5D9"/>
            </a:solidFill>
            <a:prstDash val="solid"/>
          </a:ln>
        </p:spPr>
        <p:txBody>
          <a:bodyPr/>
          <a:lstStyle/>
          <a:p>
            <a:pPr latinLnBrk="0"/>
            <a:endParaRPr lang="en-US"/>
          </a:p>
        </p:txBody>
      </p:sp>
      <p:sp>
        <p:nvSpPr>
          <p:cNvPr id="26" name="design-caption">
            <a:extLst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noGrp="1"/>
          </p:cNvSpPr>
          <p:nvPr/>
        </p:nvSpPr>
        <p:spPr>
          <a:xfrm>
            <a:off x="13335000" y="16097250"/>
            <a:ext cx="16134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defRPr sz="285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Figure 1. </a:t>
            </a:r>
            <a:r>
              <a:rPr sz="2400" b="0" dirty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Research questions and setting. Six teams request 120 GPU-hours from a pool of 100. Values are private; requests and emissions are public. Q1 and Q2 are answered by the model and its exact computation, Q3 by play in the Hugging Face Space.</a:t>
            </a:r>
          </a:p>
        </p:txBody>
      </p:sp>
      <p:sp>
        <p:nvSpPr>
          <p:cNvPr id="27" name="main-result-area">
            <a:extLst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noGrp="1"/>
          </p:cNvSpPr>
          <p:nvPr/>
        </p:nvSpPr>
        <p:spPr>
          <a:xfrm>
            <a:off x="13335000" y="17621250"/>
            <a:ext cx="16134000" cy="6286500"/>
          </a:xfrm>
          <a:prstGeom prst="rect">
            <a:avLst/>
          </a:prstGeom>
          <a:solidFill>
            <a:srgbClr val="F4F6F7"/>
          </a:solidFill>
          <a:ln w="19050">
            <a:solidFill>
              <a:srgbClr val="CFD5D9"/>
            </a:solidFill>
            <a:prstDash val="solid"/>
          </a:ln>
        </p:spPr>
        <p:txBody>
          <a:bodyPr/>
          <a:lstStyle/>
          <a:p>
            <a:pPr latinLnBrk="0"/>
            <a:endParaRPr lang="en-US"/>
          </a:p>
        </p:txBody>
      </p:sp>
      <p:sp>
        <p:nvSpPr>
          <p:cNvPr id="30" name="result-caption">
            <a:extLst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noGrp="1"/>
          </p:cNvSpPr>
          <p:nvPr/>
        </p:nvSpPr>
        <p:spPr>
          <a:xfrm>
            <a:off x="13335000" y="24241125"/>
            <a:ext cx="16134000" cy="320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spcAft>
                <a:spcPts val="400"/>
              </a:spcAft>
              <a:defRPr sz="30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Figure 2. </a:t>
            </a:r>
            <a:r>
              <a:rPr sz="24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FCFS outcomes across all 720 arrival orders vs. VCG (a, b), and Team C's utility for every report (c).</a:t>
            </a:r>
          </a:p>
          <a:p>
            <a:pPr algn="l" latinLnBrk="0">
              <a:spcAft>
                <a:spcPts val="400"/>
              </a:spcAft>
              <a:defRPr sz="30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Result: </a:t>
            </a:r>
            <a:r>
              <a:rPr sz="24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VCG picks A, B, D, E (value 30, 21.6 kg CO₂e); no FCFS order beats it, but FCFS serves more teams on average.</a:t>
            </a:r>
          </a:p>
          <a:p>
            <a:pPr algn="l" latinLnBrk="0">
              <a:spcAft>
                <a:spcPts val="400"/>
              </a:spcAft>
              <a:defRPr sz="30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Parameter change: </a:t>
            </a:r>
            <a:r>
              <a:rPr sz="24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for λ from 0.1 to 1 the same group wins and truth stays optimal; with two GPU pools emissions fall from 21.6 to 16.6 kg. Winners spend 48–54 of 100 credits.</a:t>
            </a:r>
          </a:p>
          <a:p>
            <a:pPr algn="l" latinLnBrk="0">
              <a:spcAft>
                <a:spcPts val="400"/>
              </a:spcAft>
              <a:defRPr sz="30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Verification: </a:t>
            </a:r>
            <a:r>
              <a:rPr sz="24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run_simulation.py reproduces the outputs; 8 unit tests pass; notebook 10/10 checks PASS; tested commit 2045024.</a:t>
            </a:r>
          </a:p>
        </p:txBody>
      </p:sp>
      <p:sp>
        <p:nvSpPr>
          <p:cNvPr id="31" name="impact-title">
            <a:extLst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noGrp="1"/>
          </p:cNvSpPr>
          <p:nvPr/>
        </p:nvSpPr>
        <p:spPr>
          <a:xfrm>
            <a:off x="30421500" y="9525000"/>
            <a:ext cx="11049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Impact &amp; dialogue</a:t>
            </a:r>
          </a:p>
        </p:txBody>
      </p:sp>
      <p:sp>
        <p:nvSpPr>
          <p:cNvPr id="32" name="impact-title-rule">
            <a:extLst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noGrp="1"/>
          </p:cNvSpPr>
          <p:nvPr/>
        </p:nvSpPr>
        <p:spPr>
          <a:xfrm>
            <a:off x="30421500" y="10506075"/>
            <a:ext cx="11049000" cy="47625"/>
          </a:xfrm>
          <a:prstGeom prst="rect">
            <a:avLst/>
          </a:prstGeom>
          <a:solidFill>
            <a:srgbClr val="006633"/>
          </a:solidFill>
          <a:ln w="0">
            <a:noFill/>
            <a:prstDash val="solid"/>
          </a:ln>
        </p:spPr>
        <p:txBody>
          <a:bodyPr/>
          <a:lstStyle/>
          <a:p>
            <a:pPr latinLnBrk="0"/>
            <a:endParaRPr lang="en-US"/>
          </a:p>
        </p:txBody>
      </p:sp>
      <p:sp>
        <p:nvSpPr>
          <p:cNvPr id="33" name="real-world-heading">
            <a:extLst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noGrp="1"/>
          </p:cNvSpPr>
          <p:nvPr/>
        </p:nvSpPr>
        <p:spPr>
          <a:xfrm>
            <a:off x="30421500" y="11146536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Practical impact &amp; SDG targets</a:t>
            </a:r>
          </a:p>
        </p:txBody>
      </p:sp>
      <p:sp>
        <p:nvSpPr>
          <p:cNvPr id="34" name="real-world">
            <a:extLst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noGrp="1"/>
          </p:cNvSpPr>
          <p:nvPr/>
        </p:nvSpPr>
        <p:spPr>
          <a:xfrm>
            <a:off x="31536000" y="11844000"/>
            <a:ext cx="9936000" cy="435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9.5 research capability: </a:t>
            </a:r>
            <a:r>
              <a:rPr sz="22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value net of carbon 16.96 → 19.2 (simulation only).</a:t>
            </a:r>
          </a:p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9.4 resource efficiency: </a:t>
            </a:r>
            <a:r>
              <a:rPr sz="22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0.81 → 0.72 kg CO₂e per value; 0.55 with two pools (simulation only).</a:t>
            </a:r>
          </a:p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13.3 institutional capacity: </a:t>
            </a:r>
            <a:r>
              <a:rPr sz="22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published λ, fixed credit supply, re-runnable audit log (intended; no adoption).</a:t>
            </a:r>
          </a:p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Stakeholders: </a:t>
            </a:r>
            <a:r>
              <a:rPr sz="22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research teams, cluster admins, the institution, the public.</a:t>
            </a:r>
          </a:p>
          <a:p>
            <a:pPr algn="l" latinLnBrk="0"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Risk → safeguard: </a:t>
            </a:r>
            <a:r>
              <a:rPr sz="22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heavy λ trades 9.5 for 9.4 → publish λ below 1.25; repeated exclusion → history-based credits (planned); credit inflation → fixed supply (C2).</a:t>
            </a:r>
          </a:p>
        </p:txBody>
      </p:sp>
      <p:sp>
        <p:nvSpPr>
          <p:cNvPr id="35" name="interdisciplinary-heading">
            <a:extLst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noGrp="1"/>
          </p:cNvSpPr>
          <p:nvPr/>
        </p:nvSpPr>
        <p:spPr>
          <a:xfrm>
            <a:off x="30421500" y="1632204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Behavioral evidence: five self-plays (exploratory)</a:t>
            </a:r>
          </a:p>
        </p:txBody>
      </p:sp>
      <p:sp>
        <p:nvSpPr>
          <p:cNvPr id="36" name="interdisciplinary">
            <a:extLst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noGrp="1"/>
          </p:cNvSpPr>
          <p:nvPr/>
        </p:nvSpPr>
        <p:spPr>
          <a:xfrm>
            <a:off x="30421500" y="19888200"/>
            <a:ext cx="11049000" cy="2743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spcAft>
                <a:spcPts val="600"/>
              </a:spcAft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Agreement: </a:t>
            </a:r>
            <a:r>
              <a:rPr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no misreport paid off; one overreport bought a seat for 36 credits (u = −3.6).</a:t>
            </a:r>
          </a:p>
          <a:p>
            <a:pPr algn="l" latinLnBrk="0">
              <a:spcAft>
                <a:spcPts val="600"/>
              </a:spcAft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Gap: </a:t>
            </a:r>
            <a:r>
              <a:rPr sz="2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three of five overreported (wanting to win; misunderstanding). Reflections were blank; new plays will ask for a reason first.</a:t>
            </a:r>
          </a:p>
        </p:txBody>
      </p:sp>
      <p:sp>
        <p:nvSpPr>
          <p:cNvPr id="37" name="limits-heading">
            <a:extLst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noGrp="1"/>
          </p:cNvSpPr>
          <p:nvPr/>
        </p:nvSpPr>
        <p:spPr>
          <a:xfrm>
            <a:off x="30421500" y="2304288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Feedback, recognition &amp; roadmap</a:t>
            </a:r>
          </a:p>
        </p:txBody>
      </p:sp>
      <p:sp>
        <p:nvSpPr>
          <p:cNvPr id="38" name="limits">
            <a:extLst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noGrp="1"/>
          </p:cNvSpPr>
          <p:nvPr/>
        </p:nvSpPr>
        <p:spPr>
          <a:xfrm>
            <a:off x="30421500" y="23728680"/>
            <a:ext cx="11049000" cy="3703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spcAft>
                <a:spcPts val="600"/>
              </a:spcAft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Duet &amp; roundtable (Z. Wang, Q. (Aaron) Wang, FP8): </a:t>
            </a:r>
            <a:r>
              <a:rPr sz="22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credits are not money → C1–C3 adopted; more GPU types → truth holds with 1 and 2 pools, more types next.</a:t>
            </a:r>
          </a:p>
          <a:p>
            <a:pPr algn="l" latinLnBrk="0">
              <a:spcAft>
                <a:spcPts val="600"/>
              </a:spcAft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Instructor (Oct 14): </a:t>
            </a:r>
            <a:r>
              <a:rPr sz="22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conditions beside the claim; two-page paper; SDG targets with evidence status.</a:t>
            </a:r>
          </a:p>
          <a:p>
            <a:pPr algn="l" latinLnBrk="0">
              <a:spcAft>
                <a:spcPts val="600"/>
              </a:spcAft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Award: </a:t>
            </a:r>
            <a:r>
              <a:rPr sz="22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Interdisciplinary Mechanism Design Award from FP8.</a:t>
            </a:r>
          </a:p>
          <a:p>
            <a:pPr algn="l" latinLnBrk="0">
              <a:spcAft>
                <a:spcPts val="600"/>
              </a:spcAft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200" b="1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Roadmap: </a:t>
            </a:r>
            <a:r>
              <a:rPr sz="22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Econ: credit value over 10 rounds, announcing λ [9]. CS: GPU types with measured emissions, history-based credits [8]. Behavior: reason-before-result study, n ≥ 30.</a:t>
            </a:r>
          </a:p>
        </p:txBody>
      </p:sp>
      <p:sp>
        <p:nvSpPr>
          <p:cNvPr id="40" name="footer-rule">
            <a:extLst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noGrp="1"/>
          </p:cNvSpPr>
          <p:nvPr/>
        </p:nvSpPr>
        <p:spPr>
          <a:xfrm>
            <a:off x="1333500" y="27527250"/>
            <a:ext cx="40137000" cy="47625"/>
          </a:xfrm>
          <a:prstGeom prst="rect">
            <a:avLst/>
          </a:prstGeom>
          <a:solidFill>
            <a:srgbClr val="006633"/>
          </a:solidFill>
          <a:ln w="0">
            <a:noFill/>
            <a:prstDash val="solid"/>
          </a:ln>
        </p:spPr>
        <p:txBody>
          <a:bodyPr/>
          <a:lstStyle/>
          <a:p>
            <a:pPr latinLnBrk="0"/>
            <a:endParaRPr lang="en-US"/>
          </a:p>
        </p:txBody>
      </p:sp>
      <p:sp>
        <p:nvSpPr>
          <p:cNvPr id="41" name="ack-heading">
            <a:extLst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noGrp="1"/>
          </p:cNvSpPr>
          <p:nvPr/>
        </p:nvSpPr>
        <p:spPr>
          <a:xfrm>
            <a:off x="1333500" y="27813000"/>
            <a:ext cx="187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Acknowledgments</a:t>
            </a:r>
          </a:p>
        </p:txBody>
      </p:sp>
      <p:sp>
        <p:nvSpPr>
          <p:cNvPr id="42" name="ack">
            <a:extLst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noGrp="1"/>
          </p:cNvSpPr>
          <p:nvPr/>
        </p:nvSpPr>
        <p:spPr>
          <a:xfrm>
            <a:off x="1333500" y="28479750"/>
            <a:ext cx="18720000" cy="1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We thank Prof. Luyao Zhang for PS1, PS2, the COMPSCI/ECON 206 workshops and her formal feedback; Prof. Kenneth S. (Ken) Rogerson for advice on each member's PS1, the foundation of our question; and Han Zhang for a question that made us state the research question more concretely. Duet partners Zhenning Wang and Qianshuo (Aaron) Wang (FP8) recommended our three closest papers, challenged our credit and GPU-type assumptions, and gave us an award. Symposium reviewers (Sept 28): Yiqiao Liu (FP10) and Qianshuo (Aaron) Wang (FP8), carbon weight; Zimu Zhou (FP11), GPU types; Xinrong Sun (FP9), truthfulness with the carbon charge; Yongzhuo Wu (FP1), play data; Zijie Wang (FP7), figure and gap; Muhan Chen (FP12), one instance. We acknowledge Tencent's Shanghai office, the Shanghai Science and Technology Museum, and the whole COMPSCI/ECON 206 classroom community. Data are synthetic; SDG icons are official UN icons. Software: Python, Jupyter, Google Colab, matplotlib, Hugging Face Spaces. AI: Claude Code (Claude Opus 5.5) assisted code, figures, and drafts (paper App. A.3); the authors are responsible for all content. Named a missing credit? Please open a GitHub issue.</a:t>
            </a:r>
          </a:p>
        </p:txBody>
      </p:sp>
      <p:sp>
        <p:nvSpPr>
          <p:cNvPr id="43" name="references-heading">
            <a:extLst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noGrp="1"/>
          </p:cNvSpPr>
          <p:nvPr/>
        </p:nvSpPr>
        <p:spPr>
          <a:xfrm>
            <a:off x="20520000" y="27684000"/>
            <a:ext cx="1170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44" name="references">
            <a:extLst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noGrp="1"/>
          </p:cNvSpPr>
          <p:nvPr/>
        </p:nvSpPr>
        <p:spPr>
          <a:xfrm>
            <a:off x="20520000" y="28260000"/>
            <a:ext cx="11700000" cy="187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[1] Vickrey (1961). J. Finance 16(1), 8–37. doi:10.1111/j.1540-6261.1961.tb02789.x</a:t>
            </a:r>
          </a:p>
          <a:p>
            <a:pPr algn="l" latinLnBrk="0"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[2] Clarke (1971). Public Choice 11, 17–33. doi:10.1007/BF01726210</a:t>
            </a:r>
          </a:p>
          <a:p>
            <a:pPr algn="l" latinLnBrk="0"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[3] Groves (1973). Econometrica 41(4), 617–631. doi:10.2307/1914085</a:t>
            </a:r>
          </a:p>
          <a:p>
            <a:pPr algn="l" latinLnBrk="0"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[4] Harsanyi (1968). Mgmt. Sci. 14(5), 320–334. doi:10.1287/mnsc.14.5.320</a:t>
            </a:r>
          </a:p>
          <a:p>
            <a:pPr algn="l" latinLnBrk="0"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[5] Zachariadis et al. (2026). FAIR-Compute. arXiv:2607.28290</a:t>
            </a:r>
          </a:p>
          <a:p>
            <a:pPr algn="l" latinLnBrk="0"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[6] Zhang et al. (2015). Online auctions in IaaS clouds. SIGMETRICS, 3–15. doi:10.1145/2745844.2745855</a:t>
            </a:r>
          </a:p>
          <a:p>
            <a:pPr algn="l" latinLnBrk="0"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[7] Radovanović et al. (2021). Carbon-aware computing for datacenters. arXiv:2106.11750</a:t>
            </a:r>
          </a:p>
          <a:p>
            <a:pPr algn="l" latinLnBrk="0"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[8] Vuppalapati et al. (2023). Karma. USENIX OSDI, 645–662</a:t>
            </a:r>
          </a:p>
          <a:p>
            <a:pPr algn="l" latinLnBrk="0"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[9] Royal Swedish Academy of Sciences (2026). Prize in Economic Sciences 2026 (Hall, Woodford)</a:t>
            </a:r>
          </a:p>
        </p:txBody>
      </p:sp>
      <p:sp>
        <p:nvSpPr>
          <p:cNvPr id="45" name="access-heading">
            <a:extLst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noGrp="1"/>
          </p:cNvSpPr>
          <p:nvPr/>
        </p:nvSpPr>
        <p:spPr>
          <a:xfrm>
            <a:off x="32580000" y="27813000"/>
            <a:ext cx="61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 latinLnBrk="0"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</a:t>
            </a:r>
          </a:p>
        </p:txBody>
      </p:sp>
      <p:sp>
        <p:nvSpPr>
          <p:cNvPr id="46" name="access-links">
            <a:extLst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noGrp="1"/>
          </p:cNvSpPr>
          <p:nvPr/>
        </p:nvSpPr>
        <p:spPr>
          <a:xfrm>
            <a:off x="32580000" y="28296000"/>
            <a:ext cx="6192000" cy="151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pPr algn="l" latinLnBrk="0"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1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Hugging Face Space (left QR, commit dddebc7):</a:t>
            </a:r>
          </a:p>
          <a:p>
            <a:pPr algn="l" latinLnBrk="0"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150" b="0">
                <a:solidFill>
                  <a:srgbClr val="212A33"/>
                </a:solidFill>
                <a:latin typeface="Calibri"/>
                <a:ea typeface="Calibri"/>
                <a:cs typeface="Calibri"/>
                <a:hlinkClick r:id="rId4"/>
              </a:rPr>
              <a:t>https://huggingface.co/spaces/dku-comsci-econ206-2026/PS2_Team_A</a:t>
            </a:r>
          </a:p>
          <a:p>
            <a:pPr algn="l" latinLnBrk="0"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1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GitHub (right QR, tested commit 2045024):</a:t>
            </a:r>
          </a:p>
          <a:p>
            <a:pPr algn="l" latinLnBrk="0"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150" b="0">
                <a:solidFill>
                  <a:srgbClr val="212A33"/>
                </a:solidFill>
                <a:latin typeface="Calibri"/>
                <a:ea typeface="Calibri"/>
                <a:cs typeface="Calibri"/>
                <a:hlinkClick r:id="rId11"/>
              </a:rPr>
              <a:t>https://github.com/dku-comsci-econ206-Autumn2026/FP05-PS2-Team-A</a:t>
            </a:r>
          </a:p>
          <a:p>
            <a:pPr algn="l" latinLnBrk="0"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1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Colab notebook:</a:t>
            </a:r>
          </a:p>
          <a:p>
            <a:pPr algn="l" latinLnBrk="0"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150" b="0">
                <a:solidFill>
                  <a:srgbClr val="212A33"/>
                </a:solidFill>
                <a:latin typeface="Calibri"/>
                <a:ea typeface="Calibri"/>
                <a:cs typeface="Calibri"/>
                <a:hlinkClick r:id="rId12"/>
              </a:rPr>
              <a:t>https://colab.research.google.com/drive/1xYtctTPKXDszHMjdOS7IVz-OByt4edlD</a:t>
            </a:r>
          </a:p>
        </p:txBody>
      </p:sp>
      <p:pic>
        <p:nvPicPr>
          <p:cNvPr id="68" name="main-result-figure" descr="fi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7880" y="17794986"/>
            <a:ext cx="15768240" cy="5958928"/>
          </a:xfrm>
          <a:prstGeom prst="rect">
            <a:avLst/>
          </a:prstGeom>
        </p:spPr>
      </p:pic>
      <p:pic>
        <p:nvPicPr>
          <p:cNvPr id="69" name="hf-qr-code" descr="qr_h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07720" y="28300680"/>
            <a:ext cx="1143000" cy="1143000"/>
          </a:xfrm>
          <a:prstGeom prst="rect">
            <a:avLst/>
          </a:prstGeom>
        </p:spPr>
      </p:pic>
      <p:sp>
        <p:nvSpPr>
          <p:cNvPr id="72" name="question-1"/>
          <p:cNvSpPr/>
          <p:nvPr/>
        </p:nvSpPr>
        <p:spPr>
          <a:xfrm>
            <a:off x="13697712" y="11384280"/>
            <a:ext cx="4983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latinLnBrk="0"/>
            <a:r>
              <a:rPr sz="2800" b="1">
                <a:solidFill>
                  <a:srgbClr val="003399"/>
                </a:solidFill>
                <a:latin typeface="Calibri"/>
              </a:rPr>
              <a:t>Q1  Economics</a:t>
            </a:r>
          </a:p>
          <a:p>
            <a:pPr algn="ctr" latinLnBrk="0">
              <a:spcBef>
                <a:spcPts val="800"/>
              </a:spcBef>
            </a:pPr>
            <a:r>
              <a:rPr sz="2400">
                <a:solidFill>
                  <a:srgbClr val="1F2937"/>
                </a:solidFill>
                <a:latin typeface="Calibri"/>
              </a:rPr>
              <a:t>How should scarce GPU-hours be allocated for value net of carbon when teams can misreport their private value?</a:t>
            </a:r>
          </a:p>
        </p:txBody>
      </p:sp>
      <p:sp>
        <p:nvSpPr>
          <p:cNvPr id="73" name="question-2"/>
          <p:cNvSpPr/>
          <p:nvPr/>
        </p:nvSpPr>
        <p:spPr>
          <a:xfrm>
            <a:off x="18909792" y="11384280"/>
            <a:ext cx="4983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latinLnBrk="0"/>
            <a:r>
              <a:rPr sz="2800" b="1">
                <a:solidFill>
                  <a:srgbClr val="003399"/>
                </a:solidFill>
                <a:latin typeface="Calibri"/>
              </a:rPr>
              <a:t>Q2  Computation</a:t>
            </a:r>
          </a:p>
          <a:p>
            <a:pPr algn="ctr" latinLnBrk="0">
              <a:spcBef>
                <a:spcPts val="800"/>
              </a:spcBef>
            </a:pPr>
            <a:r>
              <a:rPr sz="2400">
                <a:solidFill>
                  <a:srgbClr val="1F2937"/>
                </a:solidFill>
                <a:latin typeface="Calibri"/>
              </a:rPr>
              <a:t>Can an exactly solved multi-team VCG beat first come, first served and stay auditable?</a:t>
            </a:r>
          </a:p>
        </p:txBody>
      </p:sp>
      <p:sp>
        <p:nvSpPr>
          <p:cNvPr id="74" name="question-3"/>
          <p:cNvSpPr/>
          <p:nvPr/>
        </p:nvSpPr>
        <p:spPr>
          <a:xfrm>
            <a:off x="24121872" y="11384280"/>
            <a:ext cx="4983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latinLnBrk="0"/>
            <a:r>
              <a:rPr sz="2800" b="1">
                <a:solidFill>
                  <a:srgbClr val="003399"/>
                </a:solidFill>
                <a:latin typeface="Calibri"/>
              </a:rPr>
              <a:t>Q3  Behavior</a:t>
            </a:r>
          </a:p>
          <a:p>
            <a:pPr algn="ctr" latinLnBrk="0">
              <a:spcBef>
                <a:spcPts val="800"/>
              </a:spcBef>
            </a:pPr>
            <a:r>
              <a:rPr sz="2400">
                <a:solidFill>
                  <a:srgbClr val="1F2937"/>
                </a:solidFill>
                <a:latin typeface="Calibri"/>
              </a:rPr>
              <a:t>Do people report truthfully and understand the rule?</a:t>
            </a:r>
          </a:p>
        </p:txBody>
      </p:sp>
      <p:sp>
        <p:nvSpPr>
          <p:cNvPr id="75" name="request-A"/>
          <p:cNvSpPr/>
          <p:nvPr/>
        </p:nvSpPr>
        <p:spPr>
          <a:xfrm>
            <a:off x="13697712" y="14374368"/>
            <a:ext cx="2363724" cy="77724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latinLnBrk="0"/>
            <a:r>
              <a:rPr sz="2400" b="1">
                <a:solidFill>
                  <a:srgbClr val="FFFFFF"/>
                </a:solidFill>
                <a:latin typeface="Calibri"/>
              </a:rPr>
              <a:t>A · 25 h</a:t>
            </a:r>
          </a:p>
        </p:txBody>
      </p:sp>
      <p:sp>
        <p:nvSpPr>
          <p:cNvPr id="76" name="request-B"/>
          <p:cNvSpPr/>
          <p:nvPr/>
        </p:nvSpPr>
        <p:spPr>
          <a:xfrm>
            <a:off x="16098012" y="14374368"/>
            <a:ext cx="1883664" cy="777240"/>
          </a:xfrm>
          <a:prstGeom prst="rect">
            <a:avLst/>
          </a:prstGeom>
          <a:solidFill>
            <a:srgbClr val="4F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latinLnBrk="0"/>
            <a:r>
              <a:rPr sz="2400" b="1">
                <a:solidFill>
                  <a:srgbClr val="FFFFFF"/>
                </a:solidFill>
                <a:latin typeface="Calibri"/>
              </a:rPr>
              <a:t>B · 20 h</a:t>
            </a:r>
          </a:p>
        </p:txBody>
      </p:sp>
      <p:sp>
        <p:nvSpPr>
          <p:cNvPr id="77" name="request-C"/>
          <p:cNvSpPr/>
          <p:nvPr/>
        </p:nvSpPr>
        <p:spPr>
          <a:xfrm>
            <a:off x="18018252" y="14374368"/>
            <a:ext cx="1403604" cy="777240"/>
          </a:xfrm>
          <a:prstGeom prst="rect">
            <a:avLst/>
          </a:prstGeom>
          <a:solidFill>
            <a:srgbClr val="BFD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latinLnBrk="0"/>
            <a:r>
              <a:rPr sz="2400" b="1">
                <a:solidFill>
                  <a:srgbClr val="212A33"/>
                </a:solidFill>
                <a:latin typeface="Calibri"/>
              </a:rPr>
              <a:t>C · 15 h</a:t>
            </a:r>
          </a:p>
        </p:txBody>
      </p:sp>
      <p:sp>
        <p:nvSpPr>
          <p:cNvPr id="78" name="request-D"/>
          <p:cNvSpPr/>
          <p:nvPr/>
        </p:nvSpPr>
        <p:spPr>
          <a:xfrm>
            <a:off x="19458432" y="14374368"/>
            <a:ext cx="2363724" cy="77724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latinLnBrk="0"/>
            <a:r>
              <a:rPr sz="2400" b="1">
                <a:solidFill>
                  <a:srgbClr val="FFFFFF"/>
                </a:solidFill>
                <a:latin typeface="Calibri"/>
              </a:rPr>
              <a:t>D · 25 h</a:t>
            </a:r>
          </a:p>
        </p:txBody>
      </p:sp>
      <p:sp>
        <p:nvSpPr>
          <p:cNvPr id="79" name="request-E"/>
          <p:cNvSpPr/>
          <p:nvPr/>
        </p:nvSpPr>
        <p:spPr>
          <a:xfrm>
            <a:off x="21858732" y="14374368"/>
            <a:ext cx="1883664" cy="777240"/>
          </a:xfrm>
          <a:prstGeom prst="rect">
            <a:avLst/>
          </a:prstGeom>
          <a:solidFill>
            <a:srgbClr val="4F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latinLnBrk="0"/>
            <a:r>
              <a:rPr sz="2400" b="1">
                <a:solidFill>
                  <a:srgbClr val="FFFFFF"/>
                </a:solidFill>
                <a:latin typeface="Calibri"/>
              </a:rPr>
              <a:t>E · 20 h</a:t>
            </a:r>
          </a:p>
        </p:txBody>
      </p:sp>
      <p:sp>
        <p:nvSpPr>
          <p:cNvPr id="80" name="request-F"/>
          <p:cNvSpPr/>
          <p:nvPr/>
        </p:nvSpPr>
        <p:spPr>
          <a:xfrm>
            <a:off x="23778972" y="14374368"/>
            <a:ext cx="1403604" cy="777240"/>
          </a:xfrm>
          <a:prstGeom prst="rect">
            <a:avLst/>
          </a:prstGeom>
          <a:solidFill>
            <a:srgbClr val="BFD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latinLnBrk="0"/>
            <a:r>
              <a:rPr sz="2400" b="1">
                <a:solidFill>
                  <a:srgbClr val="212A33"/>
                </a:solidFill>
                <a:latin typeface="Calibri"/>
              </a:rPr>
              <a:t>F · 15 h</a:t>
            </a:r>
          </a:p>
        </p:txBody>
      </p:sp>
      <p:sp>
        <p:nvSpPr>
          <p:cNvPr id="81" name="capacity-line"/>
          <p:cNvSpPr/>
          <p:nvPr/>
        </p:nvSpPr>
        <p:spPr>
          <a:xfrm>
            <a:off x="23271480" y="14026896"/>
            <a:ext cx="54864" cy="1344168"/>
          </a:xfrm>
          <a:prstGeom prst="rect">
            <a:avLst/>
          </a:prstGeom>
          <a:solidFill>
            <a:srgbClr val="21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latinLnBrk="0"/>
            <a:endParaRPr/>
          </a:p>
        </p:txBody>
      </p:sp>
      <p:sp>
        <p:nvSpPr>
          <p:cNvPr id="82" name="capacity-label"/>
          <p:cNvSpPr/>
          <p:nvPr/>
        </p:nvSpPr>
        <p:spPr>
          <a:xfrm>
            <a:off x="19915632" y="13825728"/>
            <a:ext cx="329184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r" latinLnBrk="0"/>
            <a:r>
              <a:rPr sz="2200" b="1">
                <a:solidFill>
                  <a:srgbClr val="212A33"/>
                </a:solidFill>
                <a:latin typeface="Calibri"/>
              </a:rPr>
              <a:t>capacity K = 100 GPU-h</a:t>
            </a:r>
          </a:p>
        </p:txBody>
      </p:sp>
      <p:sp>
        <p:nvSpPr>
          <p:cNvPr id="83" name="overflow-label"/>
          <p:cNvSpPr/>
          <p:nvPr/>
        </p:nvSpPr>
        <p:spPr>
          <a:xfrm>
            <a:off x="25356311" y="14328648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 latinLnBrk="0"/>
            <a:r>
              <a:rPr sz="2400" b="1">
                <a:solidFill>
                  <a:srgbClr val="C2410C"/>
                </a:solidFill>
                <a:latin typeface="Calibri"/>
              </a:rPr>
              <a:t>120 GPU-h requested:
who is left out?</a:t>
            </a:r>
          </a:p>
        </p:txBody>
      </p:sp>
      <p:sp>
        <p:nvSpPr>
          <p:cNvPr id="84" name="setting-legend"/>
          <p:cNvSpPr/>
          <p:nvPr/>
        </p:nvSpPr>
        <p:spPr>
          <a:xfrm>
            <a:off x="13697712" y="15243048"/>
            <a:ext cx="15361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 latinLnBrk="0"/>
            <a:r>
              <a:rPr sz="2100" b="0">
                <a:solidFill>
                  <a:srgbClr val="56616B"/>
                </a:solidFill>
                <a:latin typeface="Calibri"/>
              </a:rPr>
              <a:t>Block width = public request dᵢ.  Shade = private value vᵢ (dark 9, medium 6, light 3).  Emissions eᵢ = 0.24 dᵢ kg CO₂e;  λ = 0.5.</a:t>
            </a:r>
          </a:p>
        </p:txBody>
      </p:sp>
      <p:graphicFrame>
        <p:nvGraphicFramePr>
          <p:cNvPr id="85" name="plays-table"/>
          <p:cNvGraphicFramePr>
            <a:graphicFrameLocks noGrp="1"/>
          </p:cNvGraphicFramePr>
          <p:nvPr/>
        </p:nvGraphicFramePr>
        <p:xfrm>
          <a:off x="30422088" y="17007840"/>
          <a:ext cx="110459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 latinLnBrk="0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109728" marR="109728" anchor="ctr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marL="109728" marR="109728" anchor="ctr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Observed</a:t>
                      </a:r>
                    </a:p>
                  </a:txBody>
                  <a:tcPr marL="109728" marR="109728" anchor="ctr">
                    <a:solidFill>
                      <a:srgbClr val="00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latinLnBrk="0"/>
                      <a:r>
                        <a:rPr sz="2200" b="1">
                          <a:solidFill>
                            <a:srgbClr val="212A33"/>
                          </a:solidFill>
                          <a:latin typeface="Calibri"/>
                        </a:rPr>
                        <a:t>Truthful reports (r = v)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2200" b="0">
                          <a:solidFill>
                            <a:srgbClr val="212A33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2200" b="0">
                          <a:solidFill>
                            <a:srgbClr val="212A33"/>
                          </a:solidFill>
                          <a:latin typeface="Calibri"/>
                        </a:rPr>
                        <a:t>2 / 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latinLnBrk="0"/>
                      <a:r>
                        <a:rPr sz="2200" b="1">
                          <a:solidFill>
                            <a:srgbClr val="212A33"/>
                          </a:solidFill>
                          <a:latin typeface="Calibri"/>
                        </a:rPr>
                        <a:t>Overreports</a:t>
                      </a:r>
                    </a:p>
                  </a:txBody>
                  <a:tcPr marL="109728" marR="10972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2200" b="0">
                          <a:solidFill>
                            <a:srgbClr val="212A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9728" marR="10972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2200" b="0">
                          <a:solidFill>
                            <a:srgbClr val="21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10972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latinLnBrk="0"/>
                      <a:r>
                        <a:rPr sz="2200" b="1">
                          <a:solidFill>
                            <a:srgbClr val="212A33"/>
                          </a:solidFill>
                          <a:latin typeface="Calibri"/>
                        </a:rPr>
                        <a:t>Selection predicted correctly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2200" b="0">
                          <a:solidFill>
                            <a:srgbClr val="212A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2200" b="0">
                          <a:solidFill>
                            <a:srgbClr val="212A33"/>
                          </a:solidFill>
                          <a:latin typeface="Calibri"/>
                        </a:rPr>
                        <a:t>3 / 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latinLnBrk="0"/>
                      <a:r>
                        <a:rPr sz="2200" b="1">
                          <a:solidFill>
                            <a:srgbClr val="212A33"/>
                          </a:solidFill>
                          <a:latin typeface="Calibri"/>
                        </a:rPr>
                        <a:t>Plays where a misreport raised utility</a:t>
                      </a:r>
                    </a:p>
                  </a:txBody>
                  <a:tcPr marL="109728" marR="10972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2200" b="0">
                          <a:solidFill>
                            <a:srgbClr val="212A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9728" marR="10972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2200" b="0">
                          <a:solidFill>
                            <a:srgbClr val="212A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9728" marR="10972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6" name="github-qr-cod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79320" y="28300680"/>
            <a:ext cx="1143000" cy="1143000"/>
          </a:xfrm>
          <a:prstGeom prst="rect">
            <a:avLst/>
          </a:prstGeom>
        </p:spPr>
      </p:pic>
      <p:pic>
        <p:nvPicPr>
          <p:cNvPr id="87" name="sdg-09-icon" descr="sdg_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20000" y="11916000"/>
            <a:ext cx="936000" cy="936000"/>
          </a:xfrm>
          <a:prstGeom prst="rect">
            <a:avLst/>
          </a:prstGeom>
        </p:spPr>
      </p:pic>
      <p:pic>
        <p:nvPicPr>
          <p:cNvPr id="88" name="sdg-13-icon" descr="sdg_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20000" y="12996000"/>
            <a:ext cx="936000" cy="936000"/>
          </a:xfrm>
          <a:prstGeom prst="rect">
            <a:avLst/>
          </a:prstGeom>
        </p:spPr>
      </p:pic>
      <p:pic>
        <p:nvPicPr>
          <p:cNvPr id="89" name="sdg-logo" descr="E_SDG_logo_horizontal_PRINT_Transpar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91750" y="4966568"/>
            <a:ext cx="4680000" cy="85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82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1736</Words>
  <Application>Microsoft Macintosh PowerPoint</Application>
  <DocSecurity>0</DocSecurity>
  <PresentationFormat>사용자 지정</PresentationFormat>
  <Paragraphs>104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Gihun Lee</cp:lastModifiedBy>
  <cp:revision>7</cp:revision>
  <dcterms:created xsi:type="dcterms:W3CDTF">2026-09-21T06:28:50Z</dcterms:created>
  <dcterms:modified xsi:type="dcterms:W3CDTF">2026-10-05T15:29:41Z</dcterms:modified>
</cp:coreProperties>
</file>